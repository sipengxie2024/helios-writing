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83" r:id="rId14"/>
    <p:sldId id="265" r:id="rId15"/>
    <p:sldId id="266" r:id="rId16"/>
    <p:sldId id="267" r:id="rId17"/>
    <p:sldId id="277" r:id="rId18"/>
    <p:sldId id="278" r:id="rId19"/>
    <p:sldId id="279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80" r:id="rId30"/>
    <p:sldId id="281" r:id="rId31"/>
    <p:sldId id="282" r:id="rId3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Artifact Size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Forerunner/Seer</c:v>
                </c:pt>
                <c:pt idx="1">
                  <c:v>Helios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900</c:v>
                </c:pt>
                <c:pt idx="1">
                  <c:v>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System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Size (KB)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e633589-2d26-4216-a4cb-2893ee1b27dd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Execution Time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With Tracing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240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Latency (µs)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87b7935-2807-4882-89bc-e28e3dc3ccc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Execution Coverage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Top 1%</c:v>
                </c:pt>
                <c:pt idx="1">
                  <c:v>Top 5%</c:v>
                </c:pt>
                <c:pt idx="2">
                  <c:v>Top 10%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80</c:v>
                </c:pt>
                <c:pt idx="2">
                  <c:v>90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Path Percentage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Coverage (%)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e6026d7-5c90-4e65-9001-345c98757253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7301" y="986730"/>
            <a:ext cx="1749397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spcAft>
                <a:spcPts val="15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Helios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195864" y="1977330"/>
            <a:ext cx="6752272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F39C1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Lightweight Trace-Driven Execution Engine for Hyper-Optimized EVM Clients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76736" y="3825180"/>
            <a:ext cx="1390379" cy="293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Bef>
                <a:spcPts val="4500"/>
              </a:spcBef>
              <a:spcAft>
                <a:spcPts val="300"/>
              </a:spcAft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4300" y="114300"/>
            <a:ext cx="455657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Agenda</a:t>
            </a:r>
            <a:endParaRPr lang="en-US" sz="2700" dirty="0"/>
          </a:p>
        </p:txBody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762000" y="1181100"/>
            <a:ext cx="7620000" cy="819150"/>
          </a:xfrm>
          <a:prstGeom prst="roundRect">
            <a:avLst>
              <a:gd name="adj" fmla="val 9302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785813" y="1181100"/>
            <a:ext cx="0" cy="81915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850487" y="1295400"/>
            <a:ext cx="7490651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Background</a:t>
            </a:r>
            <a:endParaRPr lang="en-US" sz="225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850487" y="1685925"/>
            <a:ext cx="749065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Bef>
                <a:spcPts val="375"/>
              </a:spcBef>
              <a:buNone/>
            </a:pPr>
            <a:r>
              <a:rPr lang="en-US" sz="1125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EVM architecture, Gas mechanism, Node types</a:t>
            </a:r>
            <a:endParaRPr lang="en-US" sz="1125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762000" y="2114550"/>
            <a:ext cx="7620000" cy="819150"/>
          </a:xfrm>
          <a:prstGeom prst="roundRect">
            <a:avLst>
              <a:gd name="adj" fmla="val 9302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785813" y="2114550"/>
            <a:ext cx="0" cy="81915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850487" y="2228850"/>
            <a:ext cx="7490651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Motivation</a:t>
            </a:r>
            <a:endParaRPr lang="en-US" sz="225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850487" y="2619375"/>
            <a:ext cx="749065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Bef>
                <a:spcPts val="375"/>
              </a:spcBef>
              <a:buNone/>
            </a:pPr>
            <a:r>
              <a:rPr lang="en-US" sz="1125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Limitations of existing approaches → Three design principles</a:t>
            </a:r>
            <a:endParaRPr lang="en-US" sz="1125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762000" y="3950335"/>
            <a:ext cx="7620000" cy="819150"/>
          </a:xfrm>
          <a:prstGeom prst="roundRect">
            <a:avLst>
              <a:gd name="adj" fmla="val 9302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785813" y="3950335"/>
            <a:ext cx="0" cy="81915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850487" y="4064635"/>
            <a:ext cx="7490651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System Design</a:t>
            </a:r>
            <a:endParaRPr lang="en-US" sz="225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850487" y="4455160"/>
            <a:ext cx="749065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Bef>
                <a:spcPts val="375"/>
              </a:spcBef>
              <a:buNone/>
            </a:pPr>
            <a:r>
              <a:rPr lang="en-US" sz="1125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Architecture, Components, Execution modes</a:t>
            </a:r>
            <a:endParaRPr lang="en-US" sz="1125" dirty="0"/>
          </a:p>
        </p:txBody>
      </p:sp>
      <p:sp>
        <p:nvSpPr>
          <p:cNvPr id="24" name="Text 14"/>
          <p:cNvSpPr/>
          <p:nvPr>
            <p:custDataLst>
              <p:tags r:id="rId13"/>
            </p:custDataLst>
          </p:nvPr>
        </p:nvSpPr>
        <p:spPr>
          <a:xfrm>
            <a:off x="762000" y="3048000"/>
            <a:ext cx="7620000" cy="819150"/>
          </a:xfrm>
          <a:prstGeom prst="roundRect">
            <a:avLst>
              <a:gd name="adj" fmla="val 9302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15"/>
          <p:cNvSpPr/>
          <p:nvPr>
            <p:custDataLst>
              <p:tags r:id="rId14"/>
            </p:custDataLst>
          </p:nvPr>
        </p:nvSpPr>
        <p:spPr>
          <a:xfrm>
            <a:off x="785813" y="3048000"/>
            <a:ext cx="0" cy="81915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26" name="Text 16"/>
          <p:cNvSpPr/>
          <p:nvPr>
            <p:custDataLst>
              <p:tags r:id="rId15"/>
            </p:custDataLst>
          </p:nvPr>
        </p:nvSpPr>
        <p:spPr>
          <a:xfrm>
            <a:off x="850487" y="3162300"/>
            <a:ext cx="7490651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Design Principles → Implementation</a:t>
            </a:r>
            <a:endParaRPr lang="en-US" sz="2250" dirty="0"/>
          </a:p>
        </p:txBody>
      </p:sp>
      <p:sp>
        <p:nvSpPr>
          <p:cNvPr id="27" name="Text 17"/>
          <p:cNvSpPr/>
          <p:nvPr>
            <p:custDataLst>
              <p:tags r:id="rId16"/>
            </p:custDataLst>
          </p:nvPr>
        </p:nvSpPr>
        <p:spPr>
          <a:xfrm>
            <a:off x="850487" y="3552825"/>
            <a:ext cx="749065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Bef>
                <a:spcPts val="375"/>
              </a:spcBef>
              <a:buNone/>
            </a:pPr>
            <a:r>
              <a:rPr lang="en-US" sz="1125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Mapping principles to system components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5382387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Ethereum Virtual Machine (EVM)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5750" y="2209800"/>
            <a:ext cx="4255389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250" b="1" dirty="0">
                <a:solidFill>
                  <a:srgbClr val="F39C1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Stack-Based Execution Model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85750" y="2743200"/>
            <a:ext cx="4171950" cy="1181100"/>
          </a:xfrm>
          <a:prstGeom prst="rect">
            <a:avLst/>
          </a:prstGeom>
          <a:noFill/>
        </p:spPr>
        <p:txBody>
          <a:bodyPr wrap="square" lIns="85725" tIns="0" rIns="0" bIns="0" rtlCol="0" anchor="t"/>
          <a:lstStyle/>
          <a:p>
            <a:pPr marL="0" indent="0" algn="l">
              <a:lnSpc>
                <a:spcPts val="2100"/>
              </a:lnSpc>
              <a:buSzPct val="100000"/>
              <a:buNone/>
            </a:pP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1024-element stack</a:t>
            </a: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with 256-bit integers</a:t>
            </a:r>
            <a:endParaRPr lang="en-US" sz="1350" dirty="0"/>
          </a:p>
          <a:p>
            <a:pPr marL="0" indent="0" algn="l">
              <a:lnSpc>
                <a:spcPts val="2100"/>
              </a:lnSpc>
              <a:buSzPct val="100000"/>
              <a:buNone/>
            </a:pP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Indirect addressing</a:t>
            </a: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→ performance overhead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Stack manipulation: DUP, SWAP, POP operations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Memory &amp; Storage with different access patterns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86300" y="1400175"/>
            <a:ext cx="3810000" cy="3333750"/>
          </a:xfrm>
          <a:prstGeom prst="rect">
            <a:avLst/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3E50"/>
                </a:solidFill>
              </a:rPr>
              <a:t>Stack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C3E50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C3E50"/>
                </a:solidFill>
              </a:rPr>
              <a:t>Memory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C3E50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C3E50"/>
                </a:solidFill>
              </a:rPr>
              <a:t>Storage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47884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Gas Mechanism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5750" y="1511796"/>
            <a:ext cx="4171950" cy="1441847"/>
          </a:xfrm>
          <a:prstGeom prst="roundRect">
            <a:avLst>
              <a:gd name="adj" fmla="val 5285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3875" y="1749921"/>
            <a:ext cx="3769614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125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Purpose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23875" y="2235696"/>
            <a:ext cx="3769614" cy="4798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Turing-complete + Resource metering → Prevent infinite loops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86300" y="1391841"/>
            <a:ext cx="4171950" cy="1681758"/>
          </a:xfrm>
          <a:prstGeom prst="roundRect">
            <a:avLst>
              <a:gd name="adj" fmla="val 4531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24425" y="1629966"/>
            <a:ext cx="3769614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125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Gas Costs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924425" y="2115741"/>
            <a:ext cx="3769614" cy="7197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Static:</a:t>
            </a: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ADD, MUL (fixed cost)
</a:t>
            </a: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Dynamic:</a:t>
            </a: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SLOAD, SSTORE (runtime-dependent)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85750" y="3587948"/>
            <a:ext cx="8572500" cy="1154311"/>
          </a:xfrm>
          <a:prstGeom prst="roundRect">
            <a:avLst>
              <a:gd name="adj" fmla="val 6601"/>
            </a:avLst>
          </a:prstGeom>
          <a:solidFill>
            <a:srgbClr val="F5B04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09563" y="3587948"/>
            <a:ext cx="0" cy="1154311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" y="3826073"/>
            <a:ext cx="8209598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750"/>
              </a:spcAft>
              <a:buNone/>
            </a:pPr>
            <a:r>
              <a:rPr lang="en-US" sz="2250" b="1" dirty="0">
                <a:solidFill>
                  <a:srgbClr val="0F24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Gas Delimiters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71500" y="4264223"/>
            <a:ext cx="8209598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GAS, RETURN, STOP, REVERT, CREATE, CREATE2 → Enable GasChunk batch deduction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5955602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Blockchain Node Types &amp; Workload</a:t>
            </a:r>
            <a:endParaRPr lang="en-US" sz="2700" dirty="0"/>
          </a:p>
        </p:txBody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285750" y="1730722"/>
            <a:ext cx="4171950" cy="2672655"/>
          </a:xfrm>
          <a:prstGeom prst="roundRect">
            <a:avLst>
              <a:gd name="adj" fmla="val 2851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285750" y="1754535"/>
            <a:ext cx="4171950" cy="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71500" y="2064097"/>
            <a:ext cx="3672459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 Node</a:t>
            </a:r>
            <a:endParaRPr lang="en-US" sz="21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571500" y="2574578"/>
            <a:ext cx="3672459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125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Online Mode</a:t>
            </a: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571500" y="2936528"/>
            <a:ext cx="3600450" cy="1181100"/>
          </a:xfrm>
          <a:prstGeom prst="rect">
            <a:avLst/>
          </a:prstGeom>
          <a:noFill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Real-time verification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Unknown execution paths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Low latency requirement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Requires speculation &amp; validation</a:t>
            </a:r>
            <a:endParaRPr lang="en-US" sz="135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4686300" y="1730722"/>
            <a:ext cx="4171950" cy="2672655"/>
          </a:xfrm>
          <a:prstGeom prst="roundRect">
            <a:avLst>
              <a:gd name="adj" fmla="val 2851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4686300" y="1754535"/>
            <a:ext cx="4171950" cy="0"/>
          </a:xfrm>
          <a:prstGeom prst="line">
            <a:avLst/>
          </a:prstGeom>
          <a:noFill/>
          <a:ln w="47625">
            <a:solidFill>
              <a:srgbClr val="1C3D5A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972050" y="2064097"/>
            <a:ext cx="3672459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Archive Node</a:t>
            </a:r>
            <a:endParaRPr lang="en-US" sz="21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4972050" y="2574578"/>
            <a:ext cx="3672459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125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Replay Mode</a:t>
            </a:r>
            <a:endParaRPr lang="en-US" sz="15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4972050" y="2936528"/>
            <a:ext cx="3600450" cy="1181100"/>
          </a:xfrm>
          <a:prstGeom prst="rect">
            <a:avLst/>
          </a:prstGeom>
          <a:noFill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Historical replay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Deterministic execution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 throughput focus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 cache hit rate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47884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Statement</a:t>
            </a:r>
            <a:endParaRPr lang="en-US" sz="2700" dirty="0"/>
          </a:p>
        </p:txBody>
      </p:sp>
      <p:pic>
        <p:nvPicPr>
          <p:cNvPr id="4" name="Image 0" descr="/tmp/rasterized-gradient-efab63c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431280"/>
            <a:ext cx="5715000" cy="1439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45970" y="1812280"/>
            <a:ext cx="5052060" cy="677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65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Existing optimization methods fail on modern EVM implementations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714500" y="3156198"/>
            <a:ext cx="1911400" cy="1546622"/>
          </a:xfrm>
          <a:prstGeom prst="roundRect">
            <a:avLst>
              <a:gd name="adj" fmla="val 4927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38274" y="3394323"/>
            <a:ext cx="1463853" cy="548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Aft>
                <a:spcPts val="750"/>
              </a:spcAft>
              <a:buNone/>
            </a:pPr>
            <a:r>
              <a:rPr lang="en-US" sz="3600" b="1" dirty="0">
                <a:solidFill>
                  <a:srgbClr val="F39C1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5.0×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938274" y="4038154"/>
            <a:ext cx="1463853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Forerunner/Seer</a:t>
            </a:r>
            <a:endParaRPr lang="en-US" sz="1200" dirty="0"/>
          </a:p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 Go-Ethereum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148" y="3796159"/>
            <a:ext cx="1463853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95A5A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518249" y="3156198"/>
            <a:ext cx="1911400" cy="1546622"/>
          </a:xfrm>
          <a:prstGeom prst="roundRect">
            <a:avLst>
              <a:gd name="adj" fmla="val 4927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742023" y="3394323"/>
            <a:ext cx="1463853" cy="548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Aft>
                <a:spcPts val="750"/>
              </a:spcAft>
              <a:buNone/>
            </a:pPr>
            <a:r>
              <a:rPr lang="en-US" sz="36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1.5×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5742023" y="4038154"/>
            <a:ext cx="1463853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Same approach</a:t>
            </a:r>
            <a:endParaRPr lang="en-US" sz="1200" dirty="0"/>
          </a:p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 Revm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47884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Three Key Observations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3875" y="1216521"/>
            <a:ext cx="8096250" cy="1106686"/>
          </a:xfrm>
          <a:prstGeom prst="roundRect">
            <a:avLst>
              <a:gd name="adj" fmla="val 6885"/>
            </a:avLst>
          </a:prstGeom>
          <a:solidFill>
            <a:srgbClr val="F39C1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4378" y="1502271"/>
            <a:ext cx="7675245" cy="2742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The Overhead of Full Tracing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4378" y="1824186"/>
            <a:ext cx="7675245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Lightweight, asynchronous profiling needed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3875" y="2513707"/>
            <a:ext cx="8096250" cy="1106686"/>
          </a:xfrm>
          <a:prstGeom prst="roundRect">
            <a:avLst>
              <a:gd name="adj" fmla="val 6885"/>
            </a:avLst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4378" y="2799457"/>
            <a:ext cx="7675245" cy="2742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Untapped Value of Path Locality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4378" y="3121372"/>
            <a:ext cx="7675245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Persistent cross-transaction caching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3875" y="3810893"/>
            <a:ext cx="8096250" cy="1106686"/>
          </a:xfrm>
          <a:prstGeom prst="roundRect">
            <a:avLst>
              <a:gd name="adj" fmla="val 6885"/>
            </a:avLst>
          </a:prstGeom>
          <a:solidFill>
            <a:srgbClr val="2E537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4378" y="4096643"/>
            <a:ext cx="7675245" cy="2742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Frame-Level Path-Driven Optimization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4378" y="4418558"/>
            <a:ext cx="7675245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Stack-only, frame-granular approach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6227636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Observation 1: Full Tracing Overhead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5750" y="1516559"/>
            <a:ext cx="4255389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250" b="1" dirty="0">
                <a:solidFill>
                  <a:srgbClr val="F39C1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Artifact Utilization Overhead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85750" y="2049959"/>
            <a:ext cx="4171950" cy="1181100"/>
          </a:xfrm>
          <a:prstGeom prst="rect">
            <a:avLst/>
          </a:prstGeom>
          <a:noFill/>
        </p:spPr>
        <p:txBody>
          <a:bodyPr wrap="square" lIns="85725" tIns="0" rIns="0" bIns="0" rtlCol="0" anchor="t"/>
          <a:lstStyle/>
          <a:p>
            <a:pPr marL="0" indent="0" algn="l">
              <a:lnSpc>
                <a:spcPts val="2100"/>
              </a:lnSpc>
              <a:buSzPct val="100000"/>
              <a:buNone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Forerunner/Seer: </a:t>
            </a: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900KB</a:t>
            </a: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artifacts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I/O becomes the bottleneck</a:t>
            </a:r>
            <a:endParaRPr lang="en-US" sz="1350" dirty="0"/>
          </a:p>
          <a:p>
            <a:pPr marL="0" indent="0" algn="l">
              <a:lnSpc>
                <a:spcPts val="2100"/>
              </a:lnSpc>
              <a:buSzPct val="100000"/>
              <a:buNone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Helios stack-only: </a:t>
            </a: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70KB</a:t>
            </a: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(12.8× reduction)</a:t>
            </a:r>
            <a:endParaRPr lang="en-US" sz="1350" dirty="0"/>
          </a:p>
          <a:p>
            <a:pPr marL="0" indent="0" algn="l">
              <a:lnSpc>
                <a:spcPts val="2100"/>
              </a:lnSpc>
              <a:buSzPct val="100000"/>
              <a:buNone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Result: </a:t>
            </a: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2.3× speedup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85750" y="3516809"/>
            <a:ext cx="4171950" cy="1100733"/>
          </a:xfrm>
          <a:prstGeom prst="roundRect">
            <a:avLst>
              <a:gd name="adj" fmla="val 6923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09563" y="3516809"/>
            <a:ext cx="0" cy="1100733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875" y="3707309"/>
            <a:ext cx="3818192" cy="7197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Insight:</a:t>
            </a: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Memory overhead, not computational complexity, is the primary bottleneck in optimized EVMs</a:t>
            </a:r>
            <a:endParaRPr lang="en-US" sz="13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686300" y="1400175"/>
          <a:ext cx="381000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47884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Profiling on Critical Path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38125" y="879277"/>
            <a:ext cx="8667750" cy="1001911"/>
          </a:xfrm>
          <a:prstGeom prst="roundRect">
            <a:avLst>
              <a:gd name="adj" fmla="val 7605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7675" y="1088827"/>
            <a:ext cx="841362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Online Tracing Latency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7675" y="1431727"/>
            <a:ext cx="8413623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Synchronous tracing: </a:t>
            </a:r>
            <a:r>
              <a:rPr lang="en-US" sz="1350" b="1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60µs → 180-300µs</a:t>
            </a: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(3-5× delay)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38125" y="4243388"/>
            <a:ext cx="8667750" cy="620911"/>
          </a:xfrm>
          <a:prstGeom prst="roundRect">
            <a:avLst>
              <a:gd name="adj" fmla="val 12272"/>
            </a:avLst>
          </a:prstGeom>
          <a:solidFill>
            <a:srgbClr val="F5B04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61938" y="4243388"/>
            <a:ext cx="0" cy="620911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250" y="4433888"/>
            <a:ext cx="8403907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Even with 8-thread parallelization: no net gain</a:t>
            </a:r>
            <a:endParaRPr lang="en-US" sz="13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38125" y="2205038"/>
          <a:ext cx="8667750" cy="171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675322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Unutilized Potential of Detailed Analysis</a:t>
            </a:r>
            <a:endParaRPr lang="en-US" sz="27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731449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Observation 2: Path Locality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09550" y="1345109"/>
            <a:ext cx="4371975" cy="2513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spcAft>
                <a:spcPts val="1350"/>
              </a:spcAft>
              <a:buNone/>
            </a:pPr>
            <a:r>
              <a:rPr lang="en-US" sz="1650" b="1" dirty="0">
                <a:solidFill>
                  <a:srgbClr val="F39C1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Ethereum Mainnet Path Analysis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209550" y="1767929"/>
            <a:ext cx="4286250" cy="582811"/>
          </a:xfrm>
          <a:prstGeom prst="roundRect">
            <a:avLst>
              <a:gd name="adj" fmla="val 13075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1939379"/>
            <a:ext cx="4022217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10% paths</a:t>
            </a: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→ </a:t>
            </a:r>
            <a:r>
              <a:rPr lang="en-US" sz="1350" b="1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90%</a:t>
            </a: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of executions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09550" y="2465040"/>
            <a:ext cx="4286250" cy="582811"/>
          </a:xfrm>
          <a:prstGeom prst="roundRect">
            <a:avLst>
              <a:gd name="adj" fmla="val 13075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1000" y="2636490"/>
            <a:ext cx="4022217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5% paths</a:t>
            </a: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→ </a:t>
            </a:r>
            <a:r>
              <a:rPr lang="en-US" sz="1350" b="1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80%</a:t>
            </a: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of executions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09550" y="3162151"/>
            <a:ext cx="4286250" cy="582811"/>
          </a:xfrm>
          <a:prstGeom prst="roundRect">
            <a:avLst>
              <a:gd name="adj" fmla="val 13075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1000" y="3333601"/>
            <a:ext cx="4022217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1% paths</a:t>
            </a: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→ </a:t>
            </a:r>
            <a:r>
              <a:rPr lang="en-US" sz="1350" b="1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60%</a:t>
            </a: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of executions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09550" y="3916412"/>
            <a:ext cx="4286250" cy="796230"/>
          </a:xfrm>
          <a:prstGeom prst="roundRect">
            <a:avLst>
              <a:gd name="adj" fmla="val 9570"/>
            </a:avLst>
          </a:prstGeom>
          <a:solidFill>
            <a:srgbClr val="F5B04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33362" y="3916412"/>
            <a:ext cx="0" cy="79623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8625" y="4087862"/>
            <a:ext cx="3973640" cy="4533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Pareto Distribution:</a:t>
            </a:r>
            <a:r>
              <a:rPr lang="en-US" sz="1275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Cross-transaction caching amortizes cost</a:t>
            </a:r>
            <a:endParaRPr lang="en-US" sz="1275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4648200" y="1409700"/>
          <a:ext cx="36195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6635687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Observation 3: Optimization Granularity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5750" y="1486049"/>
            <a:ext cx="4171950" cy="1478012"/>
          </a:xfrm>
          <a:prstGeom prst="roundRect">
            <a:avLst>
              <a:gd name="adj" fmla="val 5156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3875" y="1724174"/>
            <a:ext cx="3769614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125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Contract-Level (JIT)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3875" y="2038499"/>
            <a:ext cx="3769614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Global optimization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3875" y="2299395"/>
            <a:ext cx="3769614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✗ JIT Bomb attacks</a:t>
            </a:r>
            <a:endParaRPr lang="en-US" sz="1200" dirty="0"/>
          </a:p>
          <a:p>
            <a:pPr marL="0" indent="0" algn="l">
              <a:lnSpc>
                <a:spcPts val="168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✗ Gas semantic conflicts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486049"/>
            <a:ext cx="4171950" cy="1478012"/>
          </a:xfrm>
          <a:prstGeom prst="roundRect">
            <a:avLst>
              <a:gd name="adj" fmla="val 5156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24425" y="1724174"/>
            <a:ext cx="3769614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125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Path-Driven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24425" y="2038499"/>
            <a:ext cx="3769614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Eliminates JIT Bomb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Preserves gas semantics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24425" y="2512665"/>
            <a:ext cx="3769614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Challenge: Explicit gas equivalence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5750" y="3537347"/>
            <a:ext cx="4171950" cy="1003846"/>
          </a:xfrm>
          <a:prstGeom prst="roundRect">
            <a:avLst>
              <a:gd name="adj" fmla="val 7591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3875" y="3775472"/>
            <a:ext cx="3769614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125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Transaction-Level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3875" y="4089797"/>
            <a:ext cx="3769614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Monolithic artifacts → Limited reuse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86300" y="3430786"/>
            <a:ext cx="4171950" cy="1217116"/>
          </a:xfrm>
          <a:prstGeom prst="roundRect">
            <a:avLst>
              <a:gd name="adj" fmla="val 6261"/>
            </a:avLst>
          </a:prstGeom>
          <a:solidFill>
            <a:srgbClr val="F39C1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24425" y="3668911"/>
            <a:ext cx="3769614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125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Frame-Level (Helios)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24425" y="3983236"/>
            <a:ext cx="3769614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Compositional reuse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Aligns with EVM execution model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47884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Three Design Principles</a:t>
            </a:r>
            <a:endParaRPr lang="en-US" sz="2700" dirty="0"/>
          </a:p>
        </p:txBody>
      </p:sp>
      <p:pic>
        <p:nvPicPr>
          <p:cNvPr id="4" name="Image 0" descr="/tmp/rasterized-gradient-7e335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1607790"/>
            <a:ext cx="8096250" cy="8457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4378" y="1893540"/>
            <a:ext cx="7675245" cy="2742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Principle 1: Lightweight &amp; Asynchronous Tracing</a:t>
            </a:r>
            <a:endParaRPr lang="en-US" sz="1800" dirty="0"/>
          </a:p>
        </p:txBody>
      </p:sp>
      <p:pic>
        <p:nvPicPr>
          <p:cNvPr id="6" name="Image 1" descr="/tmp/rasterized-gradient-2c7ae9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644080"/>
            <a:ext cx="8096250" cy="8457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4378" y="2929830"/>
            <a:ext cx="7675245" cy="2742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Principle 2: Persistent Cross-Transaction Cache</a:t>
            </a:r>
            <a:endParaRPr lang="en-US" sz="1800" dirty="0"/>
          </a:p>
        </p:txBody>
      </p:sp>
      <p:pic>
        <p:nvPicPr>
          <p:cNvPr id="8" name="Image 2" descr="/tmp/rasterized-gradient-d7ff3f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680371"/>
            <a:ext cx="8096250" cy="84579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4378" y="3966121"/>
            <a:ext cx="7675245" cy="2742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Principle 3: Frame-Level + Path-Driven + Stack-Only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906328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Principle 1 → Implementation</a:t>
            </a:r>
            <a:endParaRPr lang="en-US" sz="2700" dirty="0"/>
          </a:p>
        </p:txBody>
      </p:sp>
      <p:pic>
        <p:nvPicPr>
          <p:cNvPr id="4" name="Image 0" descr="/tmp/rasterized-gradient-169d21e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2390775"/>
            <a:ext cx="4457700" cy="13524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2676525"/>
            <a:ext cx="3963924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spcAft>
                <a:spcPts val="1500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 Principle 1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71500" y="3164086"/>
            <a:ext cx="3963924" cy="293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Lightweight &amp; Asynchronous Tracing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972050" y="1469678"/>
            <a:ext cx="3886200" cy="969615"/>
          </a:xfrm>
          <a:prstGeom prst="roundRect">
            <a:avLst>
              <a:gd name="adj" fmla="val 7859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995863" y="1469678"/>
            <a:ext cx="0" cy="969615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57800" y="1707803"/>
            <a:ext cx="3429572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Path Tracer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57800" y="1974503"/>
            <a:ext cx="3429572" cy="226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Hook-based, shadow stack tracking</a:t>
            </a:r>
            <a:endParaRPr lang="en-US" sz="1275" dirty="0"/>
          </a:p>
        </p:txBody>
      </p:sp>
      <p:sp>
        <p:nvSpPr>
          <p:cNvPr id="11" name="Text 8"/>
          <p:cNvSpPr/>
          <p:nvPr/>
        </p:nvSpPr>
        <p:spPr>
          <a:xfrm>
            <a:off x="4972050" y="2582168"/>
            <a:ext cx="3886200" cy="969615"/>
          </a:xfrm>
          <a:prstGeom prst="roundRect">
            <a:avLst>
              <a:gd name="adj" fmla="val 7859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995863" y="2582168"/>
            <a:ext cx="0" cy="969615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57800" y="2820293"/>
            <a:ext cx="3429572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Asynchronous Pipeline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257800" y="3086993"/>
            <a:ext cx="3429572" cy="226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Decoupled profiling from execution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4972050" y="3694658"/>
            <a:ext cx="3886200" cy="969615"/>
          </a:xfrm>
          <a:prstGeom prst="roundRect">
            <a:avLst>
              <a:gd name="adj" fmla="val 7859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995863" y="3694658"/>
            <a:ext cx="0" cy="969615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57800" y="3932783"/>
            <a:ext cx="3429572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Stack-Only Tracing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57800" y="4199483"/>
            <a:ext cx="3429572" cy="226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70KB vs 900KB artifacts</a:t>
            </a:r>
            <a:endParaRPr lang="en-US" sz="12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906328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Principle 2 → Implementation</a:t>
            </a:r>
            <a:endParaRPr lang="en-US" sz="2700" dirty="0"/>
          </a:p>
        </p:txBody>
      </p:sp>
      <p:pic>
        <p:nvPicPr>
          <p:cNvPr id="4" name="Image 0" descr="/tmp/rasterized-gradient-47d51bc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2390775"/>
            <a:ext cx="4457700" cy="13524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2676525"/>
            <a:ext cx="3963924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spcAft>
                <a:spcPts val="1500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 Principle 2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71500" y="3164086"/>
            <a:ext cx="3963924" cy="293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Persistent Cross-Transaction Cache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972050" y="1469678"/>
            <a:ext cx="3886200" cy="969615"/>
          </a:xfrm>
          <a:prstGeom prst="roundRect">
            <a:avLst>
              <a:gd name="adj" fmla="val 7859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995863" y="1469678"/>
            <a:ext cx="0" cy="969615"/>
          </a:xfrm>
          <a:prstGeom prst="line">
            <a:avLst/>
          </a:prstGeom>
          <a:noFill/>
          <a:ln w="47625">
            <a:solidFill>
              <a:srgbClr val="1C3D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57800" y="1707803"/>
            <a:ext cx="3429572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Path Cache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57800" y="1974503"/>
            <a:ext cx="3429572" cy="226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Two-tier architecture (PML + GML)</a:t>
            </a:r>
            <a:endParaRPr lang="en-US" sz="1275" dirty="0"/>
          </a:p>
        </p:txBody>
      </p:sp>
      <p:sp>
        <p:nvSpPr>
          <p:cNvPr id="11" name="Text 8"/>
          <p:cNvSpPr/>
          <p:nvPr/>
        </p:nvSpPr>
        <p:spPr>
          <a:xfrm>
            <a:off x="4972050" y="2582168"/>
            <a:ext cx="3886200" cy="969615"/>
          </a:xfrm>
          <a:prstGeom prst="roundRect">
            <a:avLst>
              <a:gd name="adj" fmla="val 7859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995863" y="2582168"/>
            <a:ext cx="0" cy="969615"/>
          </a:xfrm>
          <a:prstGeom prst="line">
            <a:avLst/>
          </a:prstGeom>
          <a:noFill/>
          <a:ln w="47625">
            <a:solidFill>
              <a:srgbClr val="1C3D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57800" y="2820293"/>
            <a:ext cx="3429572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Code/Data Separation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257800" y="3086993"/>
            <a:ext cx="3429572" cy="226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PathDigest + DataKey design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4972050" y="3694658"/>
            <a:ext cx="3886200" cy="969615"/>
          </a:xfrm>
          <a:prstGeom prst="roundRect">
            <a:avLst>
              <a:gd name="adj" fmla="val 7859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995863" y="3694658"/>
            <a:ext cx="0" cy="969615"/>
          </a:xfrm>
          <a:prstGeom prst="line">
            <a:avLst/>
          </a:prstGeom>
          <a:noFill/>
          <a:ln w="47625">
            <a:solidFill>
              <a:srgbClr val="1C3D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57800" y="3932783"/>
            <a:ext cx="3429572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Feedback Loop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57800" y="4199483"/>
            <a:ext cx="3429572" cy="226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Frequency-based path prediction</a:t>
            </a:r>
            <a:endParaRPr lang="en-US" sz="12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1450" y="171450"/>
            <a:ext cx="4906328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Principle 3 → Implementation</a:t>
            </a:r>
            <a:endParaRPr lang="en-US" sz="2700" dirty="0"/>
          </a:p>
        </p:txBody>
      </p:sp>
      <p:pic>
        <p:nvPicPr>
          <p:cNvPr id="4" name="Image 0" descr="/tmp/rasterized-gradient-aea50fc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2420243"/>
            <a:ext cx="4505325" cy="12553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875" y="2705993"/>
            <a:ext cx="4012501" cy="2742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 Principle 3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23875" y="3123158"/>
            <a:ext cx="4012501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Frame-Level + Path-Driven + Stack-Only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972050" y="1240334"/>
            <a:ext cx="3933825" cy="832396"/>
          </a:xfrm>
          <a:prstGeom prst="roundRect">
            <a:avLst>
              <a:gd name="adj" fmla="val 9154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995863" y="1240334"/>
            <a:ext cx="0" cy="832396"/>
          </a:xfrm>
          <a:prstGeom prst="line">
            <a:avLst/>
          </a:prstGeom>
          <a:noFill/>
          <a:ln w="47625">
            <a:solidFill>
              <a:srgbClr val="2E537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91125" y="1411784"/>
            <a:ext cx="361416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Frame-Level Granularity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191125" y="1688009"/>
            <a:ext cx="3614166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Per-frame PathLog + TxPlan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72050" y="2167979"/>
            <a:ext cx="3933825" cy="832396"/>
          </a:xfrm>
          <a:prstGeom prst="roundRect">
            <a:avLst>
              <a:gd name="adj" fmla="val 9154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995863" y="2167979"/>
            <a:ext cx="0" cy="832396"/>
          </a:xfrm>
          <a:prstGeom prst="line">
            <a:avLst/>
          </a:prstGeom>
          <a:noFill/>
          <a:ln w="47625">
            <a:solidFill>
              <a:srgbClr val="2E537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91125" y="2339429"/>
            <a:ext cx="361416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Path-Driven Optimization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191125" y="2615654"/>
            <a:ext cx="3614166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Only traced paths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72050" y="3095625"/>
            <a:ext cx="3933825" cy="832396"/>
          </a:xfrm>
          <a:prstGeom prst="roundRect">
            <a:avLst>
              <a:gd name="adj" fmla="val 9154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995863" y="3095625"/>
            <a:ext cx="0" cy="832396"/>
          </a:xfrm>
          <a:prstGeom prst="line">
            <a:avLst/>
          </a:prstGeom>
          <a:noFill/>
          <a:ln w="47625">
            <a:solidFill>
              <a:srgbClr val="2E537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91125" y="3267075"/>
            <a:ext cx="361416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Stack-Only Scope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191125" y="3543300"/>
            <a:ext cx="3614166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Exclude memory/storage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72050" y="4023271"/>
            <a:ext cx="3933825" cy="832396"/>
          </a:xfrm>
          <a:prstGeom prst="roundRect">
            <a:avLst>
              <a:gd name="adj" fmla="val 9154"/>
            </a:avLst>
          </a:prstGeom>
          <a:solidFill>
            <a:srgbClr val="F5B04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995863" y="4023271"/>
            <a:ext cx="0" cy="832396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91125" y="4194721"/>
            <a:ext cx="361416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F24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Gas-Semantic Equivalence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191125" y="4470946"/>
            <a:ext cx="3614166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Emerges naturally from design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47884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Helios System Overview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68296" y="992535"/>
            <a:ext cx="3407408" cy="2742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Asynchronous Feedback Loop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1572" y="4419600"/>
            <a:ext cx="4580706" cy="226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Path Tracer → SSA Optimizer → Path Cache → Helios Engine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285750" y="1590675"/>
            <a:ext cx="7620000" cy="2524125"/>
          </a:xfrm>
          <a:prstGeom prst="rect">
            <a:avLst/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3D5A"/>
                </a:solidFill>
              </a:rPr>
              <a:t>Path Tracer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C3D5A"/>
                </a:solidFill>
              </a:rPr>
              <a:t>↓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C3D5A"/>
                </a:solidFill>
              </a:rPr>
              <a:t>SSA Optimizer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C3D5A"/>
                </a:solidFill>
              </a:rPr>
              <a:t>↓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C3D5A"/>
                </a:solidFill>
              </a:rPr>
              <a:t>Path Cache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C3D5A"/>
                </a:solidFill>
              </a:rPr>
              <a:t>↓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C3D5A"/>
                </a:solidFill>
              </a:rPr>
              <a:t>Helios Engine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C3D5A"/>
                </a:solidFill>
              </a:rPr>
              <a:t>(Async Feedback Loop)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47884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Four Core Components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5750" y="1602284"/>
            <a:ext cx="4171950" cy="1255216"/>
          </a:xfrm>
          <a:prstGeom prst="roundRect">
            <a:avLst>
              <a:gd name="adj" fmla="val 6071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85750" y="1621334"/>
            <a:ext cx="417195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3875" y="1878509"/>
            <a:ext cx="3769614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Path Tracer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3875" y="2192834"/>
            <a:ext cx="3769614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Lightweight hooks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Shadow stack tracking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602284"/>
            <a:ext cx="4171950" cy="1255216"/>
          </a:xfrm>
          <a:prstGeom prst="roundRect">
            <a:avLst>
              <a:gd name="adj" fmla="val 6071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86300" y="1621334"/>
            <a:ext cx="417195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24425" y="1878509"/>
            <a:ext cx="3769614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SSA Optimizer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24425" y="2192834"/>
            <a:ext cx="3769614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PathLog → SsaGraph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3-stage optimization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5750" y="3276600"/>
            <a:ext cx="4171950" cy="1255216"/>
          </a:xfrm>
          <a:prstGeom prst="roundRect">
            <a:avLst>
              <a:gd name="adj" fmla="val 6071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85750" y="3295650"/>
            <a:ext cx="417195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875" y="3552825"/>
            <a:ext cx="3769614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Path Cache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3875" y="3867150"/>
            <a:ext cx="3769614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Two-tier architecture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PML + GML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6300" y="3276600"/>
            <a:ext cx="4171950" cy="1255216"/>
          </a:xfrm>
          <a:prstGeom prst="roundRect">
            <a:avLst>
              <a:gd name="adj" fmla="val 6071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86300" y="3295650"/>
            <a:ext cx="417195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4425" y="3552825"/>
            <a:ext cx="3769614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Helios Engine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24425" y="3867150"/>
            <a:ext cx="3769614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Traced Interpreter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Online &amp; Replay modes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47884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Execution Modes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5750" y="1603177"/>
            <a:ext cx="4171950" cy="2927747"/>
          </a:xfrm>
          <a:prstGeom prst="roundRect">
            <a:avLst>
              <a:gd name="adj" fmla="val 2603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9563" y="1603177"/>
            <a:ext cx="0" cy="2927747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9125" y="1888927"/>
            <a:ext cx="3623882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spcAft>
                <a:spcPts val="1500"/>
              </a:spcAft>
              <a:buNone/>
            </a:pPr>
            <a:r>
              <a:rPr lang="en-US" sz="195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Online Mode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19125" y="2376488"/>
            <a:ext cx="3623882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 Node Operation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9125" y="2759273"/>
            <a:ext cx="3552825" cy="1485900"/>
          </a:xfrm>
          <a:prstGeom prst="rect">
            <a:avLst/>
          </a:prstGeom>
          <a:noFill/>
        </p:spPr>
        <p:txBody>
          <a:bodyPr wrap="square" lIns="80963" tIns="0" rIns="0" bIns="0" rtlCol="0" anchor="t"/>
          <a:lstStyle/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CallSig → PML → PathDigest</a:t>
            </a:r>
            <a:endParaRPr lang="en-US" sz="1350" dirty="0"/>
          </a:p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Cache hit: Traced Interpreter with guards</a:t>
            </a:r>
            <a:endParaRPr lang="en-US" sz="1350" dirty="0"/>
          </a:p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Cache miss: Native Interpreter</a:t>
            </a:r>
            <a:endParaRPr lang="en-US" sz="1350" dirty="0"/>
          </a:p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Asynchronous profiling &amp; optimization</a:t>
            </a:r>
            <a:endParaRPr lang="en-US" sz="1350" dirty="0"/>
          </a:p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Speculative execution + validation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86300" y="1603177"/>
            <a:ext cx="4171950" cy="2927747"/>
          </a:xfrm>
          <a:prstGeom prst="roundRect">
            <a:avLst>
              <a:gd name="adj" fmla="val 2603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10113" y="1603177"/>
            <a:ext cx="0" cy="2927747"/>
          </a:xfrm>
          <a:prstGeom prst="line">
            <a:avLst/>
          </a:prstGeom>
          <a:noFill/>
          <a:ln w="47625">
            <a:solidFill>
              <a:srgbClr val="1C3D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9675" y="1888927"/>
            <a:ext cx="3623882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spcAft>
                <a:spcPts val="1500"/>
              </a:spcAft>
              <a:buNone/>
            </a:pPr>
            <a:r>
              <a:rPr lang="en-US" sz="195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Replay Mode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019675" y="2376488"/>
            <a:ext cx="3623882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Archive Node Operation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19675" y="2759273"/>
            <a:ext cx="3552825" cy="1485900"/>
          </a:xfrm>
          <a:prstGeom prst="rect">
            <a:avLst/>
          </a:prstGeom>
          <a:noFill/>
        </p:spPr>
        <p:txBody>
          <a:bodyPr wrap="square" lIns="80963" tIns="0" rIns="0" bIns="0" rtlCol="0" anchor="t"/>
          <a:lstStyle/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TxPlan → PathDigest (deterministic)</a:t>
            </a:r>
            <a:endParaRPr lang="en-US" sz="1350" dirty="0"/>
          </a:p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Direct GML query</a:t>
            </a:r>
            <a:endParaRPr lang="en-US" sz="1350" dirty="0"/>
          </a:p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 cache hit rate</a:t>
            </a:r>
            <a:endParaRPr lang="en-US" sz="1350" dirty="0"/>
          </a:p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guards, no profiling</a:t>
            </a:r>
            <a:endParaRPr lang="en-US" sz="1350" dirty="0"/>
          </a:p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Maximum throughput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47884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Path Tracer Design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5750" y="1426815"/>
            <a:ext cx="4255389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250" b="1" dirty="0">
                <a:solidFill>
                  <a:srgbClr val="F39C1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Shadow Stack Mechanism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85750" y="1960215"/>
            <a:ext cx="4171950" cy="1181100"/>
          </a:xfrm>
          <a:prstGeom prst="rect">
            <a:avLst/>
          </a:prstGeom>
          <a:noFill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32-bit LSN mirrors 256-bit EVM stack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Captures data dependencies efficiently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Hook-based instrumentation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Asynchronous to execution path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85750" y="3379440"/>
            <a:ext cx="4171950" cy="1327696"/>
          </a:xfrm>
          <a:prstGeom prst="roundRect">
            <a:avLst>
              <a:gd name="adj" fmla="val 5739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3569940"/>
            <a:ext cx="3866769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Metadata Generation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6250" y="3836640"/>
            <a:ext cx="3866769" cy="6799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GasChunk:</a:t>
            </a:r>
            <a:r>
              <a:rPr lang="en-US" sz="1275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Cumulative static gas between delimiters
</a:t>
            </a:r>
            <a:r>
              <a:rPr lang="en-US" sz="1275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TxPlan:</a:t>
            </a:r>
            <a:r>
              <a:rPr lang="en-US" sz="1275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Placeholder → final PathDigest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4686300" y="1257300"/>
            <a:ext cx="3810000" cy="3619500"/>
          </a:xfrm>
          <a:prstGeom prst="rect">
            <a:avLst/>
          </a:prstGeom>
          <a:solidFill>
            <a:srgbClr val="F5F5F5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3E50"/>
                </a:solidFill>
              </a:rPr>
              <a:t>EVM Stack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C3E50"/>
                </a:solidFill>
              </a:rPr>
              <a:t>(256-bit)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C3E50"/>
                </a:solidFill>
              </a:rPr>
              <a:t>↕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C3E50"/>
                </a:solidFill>
              </a:rPr>
              <a:t>Shadow Stack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C3E50"/>
                </a:solidFill>
              </a:rPr>
              <a:t>(32-bit LSN)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C3E50"/>
                </a:solidFill>
              </a:rPr>
              <a:t>Data Dependencies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47884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SSA Optimizer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5750" y="1039267"/>
            <a:ext cx="8743950" cy="2513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spcAft>
                <a:spcPts val="1500"/>
              </a:spcAft>
              <a:buNone/>
            </a:pPr>
            <a:r>
              <a:rPr lang="en-US" sz="1650" b="1" dirty="0">
                <a:solidFill>
                  <a:srgbClr val="F39C1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Three-Stage Optimization Pipeline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285750" y="1633538"/>
            <a:ext cx="8572500" cy="902940"/>
          </a:xfrm>
          <a:prstGeom prst="roundRect">
            <a:avLst>
              <a:gd name="adj" fmla="val 8439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9563" y="1633538"/>
            <a:ext cx="0" cy="90294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3875" y="1824038"/>
            <a:ext cx="8306753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Stage 1: Constant Folding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3875" y="2119313"/>
            <a:ext cx="8306753" cy="226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PUSH → constant table, compile-time evaluation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285750" y="2803178"/>
            <a:ext cx="8572500" cy="902940"/>
          </a:xfrm>
          <a:prstGeom prst="roundRect">
            <a:avLst>
              <a:gd name="adj" fmla="val 8439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09563" y="2803178"/>
            <a:ext cx="0" cy="90294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875" y="2993678"/>
            <a:ext cx="8306753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Stage 2: Dead Code Elimination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3875" y="3288953"/>
            <a:ext cx="8306753" cy="226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Backward dataflow analysis → remove unused nodes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285750" y="3972818"/>
            <a:ext cx="8572500" cy="902940"/>
          </a:xfrm>
          <a:prstGeom prst="roundRect">
            <a:avLst>
              <a:gd name="adj" fmla="val 8439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09563" y="3972818"/>
            <a:ext cx="0" cy="90294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875" y="4163318"/>
            <a:ext cx="8306753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Stage 3: Common Subexpression Elimination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3875" y="4458593"/>
            <a:ext cx="8306753" cy="226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Fingerprint matching → unify first occurrence</a:t>
            </a:r>
            <a:endParaRPr lang="en-US" sz="12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5693283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Path Cache: Two-Tier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5750" y="1743075"/>
            <a:ext cx="4171950" cy="2647801"/>
          </a:xfrm>
          <a:prstGeom prst="roundRect">
            <a:avLst>
              <a:gd name="adj" fmla="val 2878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85750" y="1766888"/>
            <a:ext cx="4171950" cy="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2076450"/>
            <a:ext cx="3672459" cy="2742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PML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2541240"/>
            <a:ext cx="3672459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Path Mapping Layer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1500" y="2924026"/>
            <a:ext cx="3600450" cy="1181100"/>
          </a:xfrm>
          <a:prstGeom prst="rect">
            <a:avLst/>
          </a:prstGeom>
          <a:noFill/>
        </p:spPr>
        <p:txBody>
          <a:bodyPr wrap="square" lIns="80963" tIns="0" rIns="0" bIns="0" rtlCol="0" anchor="t"/>
          <a:lstStyle/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CallSig → PathDigest</a:t>
            </a:r>
            <a:endParaRPr lang="en-US" sz="1350" dirty="0"/>
          </a:p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Frequency-based prediction</a:t>
            </a:r>
            <a:endParaRPr lang="en-US" sz="1350" dirty="0"/>
          </a:p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O(1) query</a:t>
            </a:r>
            <a:endParaRPr lang="en-US" sz="1350" dirty="0"/>
          </a:p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O(log k) max frequency retrieval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86300" y="1743075"/>
            <a:ext cx="4171950" cy="2647801"/>
          </a:xfrm>
          <a:prstGeom prst="roundRect">
            <a:avLst>
              <a:gd name="adj" fmla="val 2878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86300" y="1766888"/>
            <a:ext cx="4171950" cy="0"/>
          </a:xfrm>
          <a:prstGeom prst="line">
            <a:avLst/>
          </a:prstGeom>
          <a:noFill/>
          <a:ln w="47625">
            <a:solidFill>
              <a:srgbClr val="1C3D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2050" y="2076450"/>
            <a:ext cx="3672459" cy="2742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GML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72050" y="2541240"/>
            <a:ext cx="3672459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Graph Mapping Layer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72050" y="2924026"/>
            <a:ext cx="3600450" cy="1181100"/>
          </a:xfrm>
          <a:prstGeom prst="rect">
            <a:avLst/>
          </a:prstGeom>
          <a:noFill/>
        </p:spPr>
        <p:txBody>
          <a:bodyPr wrap="square" lIns="80963" tIns="0" rIns="0" bIns="0" rtlCol="0" anchor="t"/>
          <a:lstStyle/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PathDigest → SsaGraph</a:t>
            </a:r>
            <a:endParaRPr lang="en-US" sz="1350" dirty="0"/>
          </a:p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DataKey → Constant Table</a:t>
            </a:r>
            <a:endParaRPr lang="en-US" sz="1350" dirty="0"/>
          </a:p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Code/data separation</a:t>
            </a:r>
            <a:endParaRPr lang="en-US" sz="1350" dirty="0"/>
          </a:p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Shared optimization across instances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47884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Code/Data Separation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3875" y="1237357"/>
            <a:ext cx="8096250" cy="1201936"/>
          </a:xfrm>
          <a:prstGeom prst="roundRect">
            <a:avLst>
              <a:gd name="adj" fmla="val 6340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475482"/>
            <a:ext cx="777240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1125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PathDigest (Code)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85800" y="1961257"/>
            <a:ext cx="7772400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64-bit hash of opcode sequence → Shared SsaGraph across identical bytecode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23875" y="2553593"/>
            <a:ext cx="8096250" cy="1201936"/>
          </a:xfrm>
          <a:prstGeom prst="roundRect">
            <a:avLst>
              <a:gd name="adj" fmla="val 6340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2791718"/>
            <a:ext cx="777240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1125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DataKey (Data)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85800" y="3277493"/>
            <a:ext cx="7772400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code_hash || PathDigest → Separate constant tables for different instances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23875" y="3869829"/>
            <a:ext cx="8096250" cy="1026765"/>
          </a:xfrm>
          <a:prstGeom prst="roundRect">
            <a:avLst>
              <a:gd name="adj" fmla="val 7421"/>
            </a:avLst>
          </a:prstGeom>
          <a:solidFill>
            <a:srgbClr val="F5B04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7687" y="3869829"/>
            <a:ext cx="0" cy="1026765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3901" y="4107954"/>
            <a:ext cx="772382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F24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Example: ERC-20 Tokens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3901" y="4431804"/>
            <a:ext cx="7723823" cy="226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85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1000s of token contracts share the same SsaGraph, different constant tables</a:t>
            </a:r>
            <a:endParaRPr lang="en-US" sz="12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5508689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Helios Engine: Traced Interpreter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5750" y="1163985"/>
            <a:ext cx="4171950" cy="1243905"/>
          </a:xfrm>
          <a:prstGeom prst="roundRect">
            <a:avLst>
              <a:gd name="adj" fmla="val 6126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3875" y="1402110"/>
            <a:ext cx="3769614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Register-Based Model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23875" y="1716435"/>
            <a:ext cx="3769614" cy="4533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Virtual register file[LSN] → Eliminates stack overhead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4686300" y="1163985"/>
            <a:ext cx="4171950" cy="1243905"/>
          </a:xfrm>
          <a:prstGeom prst="roundRect">
            <a:avLst>
              <a:gd name="adj" fmla="val 6126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24425" y="1402110"/>
            <a:ext cx="3769614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Speculative Guards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24425" y="1716435"/>
            <a:ext cx="3769614" cy="4533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JUMP/JUMPI validation → Transaction-level fallback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285750" y="2826990"/>
            <a:ext cx="8572500" cy="2143125"/>
          </a:xfrm>
          <a:prstGeom prst="roundRect">
            <a:avLst>
              <a:gd name="adj" fmla="val 3556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1500" y="3112740"/>
            <a:ext cx="8161020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125"/>
              </a:spcAft>
              <a:buNone/>
            </a:pPr>
            <a:r>
              <a:rPr lang="en-US" sz="165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Chunked Gas Accounting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71500" y="3503265"/>
            <a:ext cx="8001000" cy="1181100"/>
          </a:xfrm>
          <a:prstGeom prst="rect">
            <a:avLst/>
          </a:prstGeom>
          <a:noFill/>
        </p:spPr>
        <p:txBody>
          <a:bodyPr wrap="square" lIns="80963" tIns="0" rIns="0" bIns="0" rtlCol="0" anchor="t"/>
          <a:lstStyle/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Most instructions: No gas check</a:t>
            </a:r>
            <a:endParaRPr lang="en-US" sz="1350" dirty="0"/>
          </a:p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Delimiter nodes: Batch deduct GasChunk</a:t>
            </a:r>
            <a:endParaRPr lang="en-US" sz="1350" dirty="0"/>
          </a:p>
          <a:p>
            <a:pPr marL="81280" indent="-8128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Dynamic gas instructions: Individual calculation</a:t>
            </a:r>
            <a:endParaRPr lang="en-US" sz="1350" dirty="0"/>
          </a:p>
          <a:p>
            <a:pPr marL="0" indent="0" algn="l">
              <a:lnSpc>
                <a:spcPts val="2100"/>
              </a:lnSpc>
              <a:buSzPct val="100000"/>
              <a:buNone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Result: </a:t>
            </a: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Precise gas-semantic equivalence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8209598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Gas-Semantic Equivalence as Emergent Property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722959" y="1106984"/>
            <a:ext cx="3697932" cy="893415"/>
          </a:xfrm>
          <a:prstGeom prst="roundRect">
            <a:avLst>
              <a:gd name="adj" fmla="val 8529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80290" y="1297484"/>
            <a:ext cx="3383271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Stack-Only Choice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2880290" y="1583234"/>
            <a:ext cx="3383271" cy="226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85"/>
              </a:lnSpc>
              <a:buNone/>
            </a:pPr>
            <a:r>
              <a:rPr lang="en-US" sz="1275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Dynamic gas instructions → Native execution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2722959" y="2114699"/>
            <a:ext cx="3697932" cy="893415"/>
          </a:xfrm>
          <a:prstGeom prst="roundRect">
            <a:avLst>
              <a:gd name="adj" fmla="val 8529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80290" y="2305199"/>
            <a:ext cx="3383271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Static Gas Instructions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2880290" y="2590949"/>
            <a:ext cx="3383271" cy="226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85"/>
              </a:lnSpc>
              <a:buNone/>
            </a:pPr>
            <a:r>
              <a:rPr lang="en-US" sz="1275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Pre-compute + batch deduction via GasChunk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2722959" y="3122414"/>
            <a:ext cx="3697932" cy="893415"/>
          </a:xfrm>
          <a:prstGeom prst="roundRect">
            <a:avLst>
              <a:gd name="adj" fmla="val 8529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80290" y="3312914"/>
            <a:ext cx="3383271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Frame-Level Granularity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2880290" y="3598664"/>
            <a:ext cx="3383271" cy="226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85"/>
              </a:lnSpc>
              <a:buNone/>
            </a:pPr>
            <a:r>
              <a:rPr lang="en-US" sz="1275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Aligns with gas metering boundaries</a:t>
            </a:r>
            <a:endParaRPr lang="en-US" sz="1275" dirty="0"/>
          </a:p>
        </p:txBody>
      </p:sp>
      <p:pic>
        <p:nvPicPr>
          <p:cNvPr id="13" name="Image 0" descr="/tmp/rasterized-gradient-cc60d88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2959" y="4187279"/>
            <a:ext cx="3697932" cy="62091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880290" y="4377779"/>
            <a:ext cx="3383271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Gas equivalence emerges from design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47884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Contributions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3875" y="1349871"/>
            <a:ext cx="8096250" cy="1049536"/>
          </a:xfrm>
          <a:prstGeom prst="roundRect">
            <a:avLst>
              <a:gd name="adj" fmla="val 7260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7687" y="1349871"/>
            <a:ext cx="0" cy="1049536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3901" y="1587996"/>
            <a:ext cx="7723823" cy="2513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80"/>
              </a:lnSpc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Lightweight Trace-Driven Architecture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33901" y="1934617"/>
            <a:ext cx="7723823" cy="226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85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Asynchronous profiling + stack-only tracking → 12.8× artifact reduction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523875" y="2542282"/>
            <a:ext cx="8096250" cy="1049536"/>
          </a:xfrm>
          <a:prstGeom prst="roundRect">
            <a:avLst>
              <a:gd name="adj" fmla="val 7260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7687" y="2542282"/>
            <a:ext cx="0" cy="1049536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3901" y="2780407"/>
            <a:ext cx="7723823" cy="2513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80"/>
              </a:lnSpc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Frame-Level Path Caching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33901" y="3127028"/>
            <a:ext cx="7723823" cy="226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85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Compositional reuse + code/data separation → High cache efficiency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523875" y="3734693"/>
            <a:ext cx="8096250" cy="1049536"/>
          </a:xfrm>
          <a:prstGeom prst="roundRect">
            <a:avLst>
              <a:gd name="adj" fmla="val 7260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7687" y="3734693"/>
            <a:ext cx="0" cy="1049536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901" y="3972818"/>
            <a:ext cx="7723823" cy="2513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80"/>
              </a:lnSpc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Gas-Semantic Equivalence by Design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33901" y="4319439"/>
            <a:ext cx="7723823" cy="226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85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explicit enforcement needed → Natural emergence from architecture</a:t>
            </a:r>
            <a:endParaRPr lang="en-US" sz="12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3D5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47884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Summary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89027" y="1873746"/>
            <a:ext cx="7565946" cy="338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65"/>
              </a:lnSpc>
              <a:spcAft>
                <a:spcPts val="2625"/>
              </a:spcAft>
              <a:buNone/>
            </a:pPr>
            <a:r>
              <a:rPr lang="en-US" sz="2400" b="1" dirty="0">
                <a:solidFill>
                  <a:srgbClr val="1C3D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Helios: Lightweight Trace-Driven EVM Optimization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84561" y="2774305"/>
            <a:ext cx="6174730" cy="1485900"/>
          </a:xfrm>
          <a:prstGeom prst="rect">
            <a:avLst/>
          </a:prstGeom>
          <a:noFill/>
        </p:spPr>
        <p:txBody>
          <a:bodyPr wrap="square" lIns="95250" tIns="0" rIns="0" bIns="0" rtlCol="0" anchor="t"/>
          <a:lstStyle/>
          <a:p>
            <a:pPr marL="0" indent="0" algn="ctr">
              <a:lnSpc>
                <a:spcPts val="2100"/>
              </a:lnSpc>
              <a:buSzPct val="100000"/>
              <a:buNone/>
            </a:pP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Addresses fundamental limitations</a:t>
            </a: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of existing approaches on modern EVMs</a:t>
            </a:r>
            <a:endParaRPr lang="en-US" sz="1350" dirty="0"/>
          </a:p>
          <a:p>
            <a:pPr marL="0" indent="0" algn="ctr">
              <a:lnSpc>
                <a:spcPts val="2100"/>
              </a:lnSpc>
              <a:buSzPct val="100000"/>
              <a:buNone/>
            </a:pP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Three design principles</a:t>
            </a: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guide architecture decisions</a:t>
            </a:r>
            <a:endParaRPr lang="en-US" sz="1350" dirty="0"/>
          </a:p>
          <a:p>
            <a:pPr marL="0" indent="0" algn="ctr">
              <a:lnSpc>
                <a:spcPts val="2100"/>
              </a:lnSpc>
              <a:buSzPct val="100000"/>
              <a:buNone/>
            </a:pP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Four core components</a:t>
            </a: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work in asynchronous feedback loop</a:t>
            </a:r>
            <a:endParaRPr lang="en-US" sz="1350" dirty="0"/>
          </a:p>
          <a:p>
            <a:pPr marL="0" indent="0" algn="ctr">
              <a:lnSpc>
                <a:spcPts val="2100"/>
              </a:lnSpc>
              <a:buSzPct val="100000"/>
              <a:buNone/>
            </a:pP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Dual execution modes</a:t>
            </a: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optimize for different node types</a:t>
            </a:r>
            <a:endParaRPr lang="en-US" sz="1350" dirty="0"/>
          </a:p>
          <a:p>
            <a:pPr marL="0" indent="0" algn="ctr">
              <a:lnSpc>
                <a:spcPts val="2100"/>
              </a:lnSpc>
              <a:buSzPct val="100000"/>
              <a:buNone/>
            </a:pP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Gas-semantic equivalence</a:t>
            </a: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emerges naturally from design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90883a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6518" y="1194643"/>
            <a:ext cx="2730815" cy="53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225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3716886" y="2242393"/>
            <a:ext cx="1710080" cy="338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65"/>
              </a:lnSpc>
              <a:spcAft>
                <a:spcPts val="3750"/>
              </a:spcAft>
              <a:buNone/>
            </a:pPr>
            <a:r>
              <a:rPr lang="en-US" sz="2400" b="1" dirty="0">
                <a:solidFill>
                  <a:srgbClr val="F39C1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082859" y="3323927"/>
            <a:ext cx="4978283" cy="586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Helios: A Lightweight Trace-Driven Execution Engine</a:t>
            </a:r>
            <a:endParaRPr lang="en-US" sz="1650" dirty="0"/>
          </a:p>
          <a:p>
            <a:pPr marL="0" indent="0" algn="ctr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Hyper-Optimized EVM Clients</a:t>
            </a:r>
            <a:endParaRPr lang="en-US" sz="16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5,&quot;left&quot;:60,&quot;top&quot;:93,&quot;width&quot;:600}"/>
</p:tagLst>
</file>

<file path=ppt/tags/tag2.xml><?xml version="1.0" encoding="utf-8"?>
<p:tagLst xmlns:p="http://schemas.openxmlformats.org/presentationml/2006/main">
  <p:tag name="KSO_WM_DIAGRAM_VIRTUALLY_FRAME" val="{&quot;height&quot;:285,&quot;left&quot;:60,&quot;top&quot;:93,&quot;width&quot;:600}"/>
</p:tagLst>
</file>

<file path=ppt/tags/tag3.xml><?xml version="1.0" encoding="utf-8"?>
<p:tagLst xmlns:p="http://schemas.openxmlformats.org/presentationml/2006/main">
  <p:tag name="KSO_WM_DIAGRAM_VIRTUALLY_FRAME" val="{&quot;height&quot;:285,&quot;left&quot;:60,&quot;top&quot;:93,&quot;width&quot;:600}"/>
</p:tagLst>
</file>

<file path=ppt/tags/tag4.xml><?xml version="1.0" encoding="utf-8"?>
<p:tagLst xmlns:p="http://schemas.openxmlformats.org/presentationml/2006/main">
  <p:tag name="KSO_WM_DIAGRAM_VIRTUALLY_FRAME" val="{&quot;height&quot;:285,&quot;left&quot;:60,&quot;top&quot;:93,&quot;width&quot;:600}"/>
</p:tagLst>
</file>

<file path=ppt/tags/tag5.xml><?xml version="1.0" encoding="utf-8"?>
<p:tagLst xmlns:p="http://schemas.openxmlformats.org/presentationml/2006/main">
  <p:tag name="KSO_WM_DIAGRAM_VIRTUALLY_FRAME" val="{&quot;height&quot;:285,&quot;left&quot;:60,&quot;top&quot;:93,&quot;width&quot;:600}"/>
</p:tagLst>
</file>

<file path=ppt/tags/tag6.xml><?xml version="1.0" encoding="utf-8"?>
<p:tagLst xmlns:p="http://schemas.openxmlformats.org/presentationml/2006/main">
  <p:tag name="KSO_WM_DIAGRAM_VIRTUALLY_FRAME" val="{&quot;height&quot;:285,&quot;left&quot;:60,&quot;top&quot;:93,&quot;width&quot;:600}"/>
</p:tagLst>
</file>

<file path=ppt/tags/tag7.xml><?xml version="1.0" encoding="utf-8"?>
<p:tagLst xmlns:p="http://schemas.openxmlformats.org/presentationml/2006/main">
  <p:tag name="KSO_WM_DIAGRAM_VIRTUALLY_FRAME" val="{&quot;height&quot;:285,&quot;left&quot;:60,&quot;top&quot;:93,&quot;width&quot;:600}"/>
</p:tagLst>
</file>

<file path=ppt/tags/tag8.xml><?xml version="1.0" encoding="utf-8"?>
<p:tagLst xmlns:p="http://schemas.openxmlformats.org/presentationml/2006/main">
  <p:tag name="KSO_WM_DIAGRAM_VIRTUALLY_FRAME" val="{&quot;height&quot;:285,&quot;left&quot;:60,&quot;top&quot;:93,&quot;width&quot;:600}"/>
</p:tagLst>
</file>

<file path=ppt/tags/tag9.xml><?xml version="1.0" encoding="utf-8"?>
<p:tagLst xmlns:p="http://schemas.openxmlformats.org/presentationml/2006/main">
  <p:tag name="KSO_WM_DIAGRAM_VIRTUALLY_FRAME" val="{&quot;height&quot;:285,&quot;left&quot;:60,&quot;top&quot;:93,&quot;width&quot;:600}"/>
</p:tagLst>
</file>

<file path=ppt/tags/tag10.xml><?xml version="1.0" encoding="utf-8"?>
<p:tagLst xmlns:p="http://schemas.openxmlformats.org/presentationml/2006/main">
  <p:tag name="KSO_WM_DIAGRAM_VIRTUALLY_FRAME" val="{&quot;height&quot;:285,&quot;left&quot;:60,&quot;top&quot;:93,&quot;width&quot;:600}"/>
</p:tagLst>
</file>

<file path=ppt/tags/tag11.xml><?xml version="1.0" encoding="utf-8"?>
<p:tagLst xmlns:p="http://schemas.openxmlformats.org/presentationml/2006/main">
  <p:tag name="KSO_WM_DIAGRAM_VIRTUALLY_FRAME" val="{&quot;height&quot;:285,&quot;left&quot;:60,&quot;top&quot;:93,&quot;width&quot;:600}"/>
</p:tagLst>
</file>

<file path=ppt/tags/tag12.xml><?xml version="1.0" encoding="utf-8"?>
<p:tagLst xmlns:p="http://schemas.openxmlformats.org/presentationml/2006/main">
  <p:tag name="KSO_WM_DIAGRAM_VIRTUALLY_FRAME" val="{&quot;height&quot;:285,&quot;left&quot;:60,&quot;top&quot;:93,&quot;width&quot;:600}"/>
</p:tagLst>
</file>

<file path=ppt/tags/tag13.xml><?xml version="1.0" encoding="utf-8"?>
<p:tagLst xmlns:p="http://schemas.openxmlformats.org/presentationml/2006/main">
  <p:tag name="KSO_WM_DIAGRAM_VIRTUALLY_FRAME" val="{&quot;height&quot;:285,&quot;left&quot;:60,&quot;top&quot;:93,&quot;width&quot;:600}"/>
</p:tagLst>
</file>

<file path=ppt/tags/tag14.xml><?xml version="1.0" encoding="utf-8"?>
<p:tagLst xmlns:p="http://schemas.openxmlformats.org/presentationml/2006/main">
  <p:tag name="KSO_WM_DIAGRAM_VIRTUALLY_FRAME" val="{&quot;height&quot;:285,&quot;left&quot;:60,&quot;top&quot;:93,&quot;width&quot;:600}"/>
</p:tagLst>
</file>

<file path=ppt/tags/tag15.xml><?xml version="1.0" encoding="utf-8"?>
<p:tagLst xmlns:p="http://schemas.openxmlformats.org/presentationml/2006/main">
  <p:tag name="KSO_WM_DIAGRAM_VIRTUALLY_FRAME" val="{&quot;height&quot;:285,&quot;left&quot;:60,&quot;top&quot;:93,&quot;width&quot;:600}"/>
</p:tagLst>
</file>

<file path=ppt/tags/tag16.xml><?xml version="1.0" encoding="utf-8"?>
<p:tagLst xmlns:p="http://schemas.openxmlformats.org/presentationml/2006/main">
  <p:tag name="KSO_WM_DIAGRAM_VIRTUALLY_FRAME" val="{&quot;height&quot;:285,&quot;left&quot;:60,&quot;top&quot;:93,&quot;width&quot;:600}"/>
</p:tagLst>
</file>

<file path=ppt/tags/tag17.xml><?xml version="1.0" encoding="utf-8"?>
<p:tagLst xmlns:p="http://schemas.openxmlformats.org/presentationml/2006/main">
  <p:tag name="KSO_WM_DIAGRAM_VIRTUALLY_FRAME" val="{&quot;height&quot;:210.44527559055118,&quot;left&quot;:22.5,&quot;top&quot;:136.27732283464564,&quot;width&quot;:675}"/>
</p:tagLst>
</file>

<file path=ppt/tags/tag18.xml><?xml version="1.0" encoding="utf-8"?>
<p:tagLst xmlns:p="http://schemas.openxmlformats.org/presentationml/2006/main">
  <p:tag name="KSO_WM_DIAGRAM_VIRTUALLY_FRAME" val="{&quot;height&quot;:210.44527559055118,&quot;left&quot;:22.5,&quot;top&quot;:136.27732283464564,&quot;width&quot;:675}"/>
</p:tagLst>
</file>

<file path=ppt/tags/tag19.xml><?xml version="1.0" encoding="utf-8"?>
<p:tagLst xmlns:p="http://schemas.openxmlformats.org/presentationml/2006/main">
  <p:tag name="KSO_WM_DIAGRAM_VIRTUALLY_FRAME" val="{&quot;height&quot;:210.44527559055118,&quot;left&quot;:22.5,&quot;top&quot;:136.27732283464564,&quot;width&quot;:675}"/>
</p:tagLst>
</file>

<file path=ppt/tags/tag20.xml><?xml version="1.0" encoding="utf-8"?>
<p:tagLst xmlns:p="http://schemas.openxmlformats.org/presentationml/2006/main">
  <p:tag name="KSO_WM_DIAGRAM_VIRTUALLY_FRAME" val="{&quot;height&quot;:210.44527559055118,&quot;left&quot;:22.5,&quot;top&quot;:136.27732283464564,&quot;width&quot;:675}"/>
</p:tagLst>
</file>

<file path=ppt/tags/tag21.xml><?xml version="1.0" encoding="utf-8"?>
<p:tagLst xmlns:p="http://schemas.openxmlformats.org/presentationml/2006/main">
  <p:tag name="KSO_WM_DIAGRAM_VIRTUALLY_FRAME" val="{&quot;height&quot;:210.44527559055118,&quot;left&quot;:22.5,&quot;top&quot;:136.27732283464564,&quot;width&quot;:675}"/>
</p:tagLst>
</file>

<file path=ppt/tags/tag22.xml><?xml version="1.0" encoding="utf-8"?>
<p:tagLst xmlns:p="http://schemas.openxmlformats.org/presentationml/2006/main">
  <p:tag name="KSO_WM_DIAGRAM_VIRTUALLY_FRAME" val="{&quot;height&quot;:210.44527559055118,&quot;left&quot;:22.5,&quot;top&quot;:136.27732283464564,&quot;width&quot;:675}"/>
</p:tagLst>
</file>

<file path=ppt/tags/tag23.xml><?xml version="1.0" encoding="utf-8"?>
<p:tagLst xmlns:p="http://schemas.openxmlformats.org/presentationml/2006/main">
  <p:tag name="KSO_WM_DIAGRAM_VIRTUALLY_FRAME" val="{&quot;height&quot;:210.44527559055118,&quot;left&quot;:22.5,&quot;top&quot;:136.27732283464564,&quot;width&quot;:675}"/>
</p:tagLst>
</file>

<file path=ppt/tags/tag24.xml><?xml version="1.0" encoding="utf-8"?>
<p:tagLst xmlns:p="http://schemas.openxmlformats.org/presentationml/2006/main">
  <p:tag name="KSO_WM_DIAGRAM_VIRTUALLY_FRAME" val="{&quot;height&quot;:210.44527559055118,&quot;left&quot;:22.5,&quot;top&quot;:136.27732283464564,&quot;width&quot;:675}"/>
</p:tagLst>
</file>

<file path=ppt/tags/tag25.xml><?xml version="1.0" encoding="utf-8"?>
<p:tagLst xmlns:p="http://schemas.openxmlformats.org/presentationml/2006/main">
  <p:tag name="KSO_WM_DIAGRAM_VIRTUALLY_FRAME" val="{&quot;height&quot;:210.44527559055118,&quot;left&quot;:22.5,&quot;top&quot;:136.27732283464564,&quot;width&quot;:675}"/>
</p:tagLst>
</file>

<file path=ppt/tags/tag26.xml><?xml version="1.0" encoding="utf-8"?>
<p:tagLst xmlns:p="http://schemas.openxmlformats.org/presentationml/2006/main">
  <p:tag name="KSO_WM_DIAGRAM_VIRTUALLY_FRAME" val="{&quot;height&quot;:210.44527559055118,&quot;left&quot;:22.5,&quot;top&quot;:136.27732283464564,&quot;width&quot;:67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6694</Words>
  <Application>WPS 演示</Application>
  <PresentationFormat>On-screen Show (16:9)</PresentationFormat>
  <Paragraphs>421</Paragraphs>
  <Slides>28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Arial</vt:lpstr>
      <vt:lpstr>宋体</vt:lpstr>
      <vt:lpstr>Wingdings</vt:lpstr>
      <vt:lpstr>Arial</vt:lpstr>
      <vt:lpstr>Arial</vt:lpstr>
      <vt:lpstr>Arial</vt:lpstr>
      <vt:lpstr>Calibri</vt:lpstr>
      <vt:lpstr>微软雅黑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Helios: A Lightweight Trace-Driven Execution Engine for Hyper-Optimized EVM Clients</dc:title>
  <dc:creator>Helios Research Team</dc:creator>
  <dc:subject>EVM Optimization</dc:subject>
  <cp:lastModifiedBy>谢思芃</cp:lastModifiedBy>
  <cp:revision>8</cp:revision>
  <dcterms:created xsi:type="dcterms:W3CDTF">2025-11-16T06:56:00Z</dcterms:created>
  <dcterms:modified xsi:type="dcterms:W3CDTF">2025-11-16T07:20:19Z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30A629285AF5411585AD481C3FFF0C17_12</vt:lpwstr>
  </property>
  <property fmtid="{D5CDD505-2E9C-101B-9397-08002B2CF9AE}" pid="3" name="KSOProductBuildVer">
    <vt:lpwstr>2052-12.1.0.22529</vt:lpwstr>
  </property>
</Properties>
</file>