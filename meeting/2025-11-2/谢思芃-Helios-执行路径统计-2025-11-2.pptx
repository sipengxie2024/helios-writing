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总大小</c:v>
                </c:pt>
              </c:strCache>
            </c:strRef>
          </c:tx>
          <c:spPr>
            <a:solidFill>
              <a:srgbClr val="5DADE2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前1000个</c:v>
                </c:pt>
                <c:pt idx="1">
                  <c:v>前2000个</c:v>
                </c:pt>
                <c:pt idx="2">
                  <c:v>前3000个</c:v>
                </c:pt>
                <c:pt idx="3">
                  <c:v>前4000个</c:v>
                </c:pt>
                <c:pt idx="4">
                  <c:v>前5000个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227.93</c:v>
                </c:pt>
                <c:pt idx="1">
                  <c:v>421.85</c:v>
                </c:pt>
                <c:pt idx="2">
                  <c:v>626.38</c:v>
                </c:pt>
                <c:pt idx="3">
                  <c:v>812.41</c:v>
                </c:pt>
                <c:pt idx="4">
                  <c:v>1015.72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区块数量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存储大小 (MB)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f16cc92-5307-4b60-894e-8954f4a0c5f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全量Hint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80.7</c:v>
                </c:pt>
                <c:pt idx="1">
                  <c:v>44.6</c:v>
                </c:pt>
                <c:pt idx="2">
                  <c:v>48.1</c:v>
                </c:pt>
                <c:pt idx="3">
                  <c:v>44.6</c:v>
                </c:pt>
                <c:pt idx="4">
                  <c:v>41.9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Top50%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33.3</c:v>
                </c:pt>
                <c:pt idx="1">
                  <c:v>18.7</c:v>
                </c:pt>
                <c:pt idx="2">
                  <c:v>20.6</c:v>
                </c:pt>
                <c:pt idx="3">
                  <c:v>19</c:v>
                </c:pt>
                <c:pt idx="4">
                  <c:v>20.2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Top20%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7.9</c:v>
                </c:pt>
                <c:pt idx="1">
                  <c:v>5</c:v>
                </c:pt>
                <c:pt idx="2">
                  <c:v>5.6</c:v>
                </c:pt>
                <c:pt idx="3">
                  <c:v>4.8</c:v>
                </c:pt>
                <c:pt idx="4">
                  <c:v>4.9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Top10%</c:v>
                </c:pt>
              </c:strCache>
            </c:strRef>
          </c:tx>
          <c:spPr>
            <a:solidFill>
              <a:srgbClr val="5DADE2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4.4</c:v>
                </c:pt>
                <c:pt idx="1">
                  <c:v>3.3</c:v>
                </c:pt>
                <c:pt idx="2">
                  <c:v>3.4</c:v>
                </c:pt>
                <c:pt idx="3">
                  <c:v>3.4</c:v>
                </c:pt>
                <c:pt idx="4">
                  <c:v>3.8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区块数量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占原区块存储的百分比 (%)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6ad16b6-f9ba-4bdd-a3d4-aa401de7ad9b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Top10% Hint</c:v>
                </c:pt>
              </c:strCache>
            </c:strRef>
          </c:tx>
          <c:spPr>
            <a:solidFill>
              <a:srgbClr val="5DADE2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76.9</c:v>
                </c:pt>
                <c:pt idx="1">
                  <c:v>74.7</c:v>
                </c:pt>
                <c:pt idx="2">
                  <c:v>77.1</c:v>
                </c:pt>
                <c:pt idx="3">
                  <c:v>77.4</c:v>
                </c:pt>
                <c:pt idx="4">
                  <c:v>78.3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Top20% Hint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82.8</c:v>
                </c:pt>
                <c:pt idx="1">
                  <c:v>80.3</c:v>
                </c:pt>
                <c:pt idx="2">
                  <c:v>82.4</c:v>
                </c:pt>
                <c:pt idx="3">
                  <c:v>82.3</c:v>
                </c:pt>
                <c:pt idx="4">
                  <c:v>82.7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Top50% Hint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89.9</c:v>
                </c:pt>
                <c:pt idx="1">
                  <c:v>86.1</c:v>
                </c:pt>
                <c:pt idx="2">
                  <c:v>88.1</c:v>
                </c:pt>
                <c:pt idx="3">
                  <c:v>87.8</c:v>
                </c:pt>
                <c:pt idx="4">
                  <c:v>87.8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区块数量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有转账交易覆盖率 (%)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fe9c5a4-5af5-4973-b61a-9572a5521cc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Top10%占比</c:v>
                </c:pt>
              </c:strCache>
            </c:strRef>
          </c:tx>
          <c:spPr>
            <a:ln w="50800" cap="flat" cmpd="sng" algn="ctr">
              <a:solidFill>
                <a:srgbClr val="5DADE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DADE2"/>
              </a:solidFill>
              <a:ln w="9525" cap="flat" cmpd="sng" algn="ctr">
                <a:solidFill>
                  <a:srgbClr val="5DADE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83.4</c:v>
                </c:pt>
                <c:pt idx="1">
                  <c:v>86.4</c:v>
                </c:pt>
                <c:pt idx="2">
                  <c:v>89</c:v>
                </c:pt>
                <c:pt idx="3">
                  <c:v>90.3</c:v>
                </c:pt>
                <c:pt idx="4">
                  <c:v>92.9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Top20%占比</c:v>
                </c:pt>
              </c:strCache>
            </c:strRef>
          </c:tx>
          <c:spPr>
            <a:ln w="50800" cap="flat" cmpd="sng" algn="ctr">
              <a:solidFill>
                <a:srgbClr val="3498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98DB"/>
              </a:solidFill>
              <a:ln w="9525" cap="flat" cmpd="sng" algn="ctr">
                <a:solidFill>
                  <a:srgbClr val="3498D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89.7</c:v>
                </c:pt>
                <c:pt idx="1">
                  <c:v>91.5</c:v>
                </c:pt>
                <c:pt idx="2">
                  <c:v>93.3</c:v>
                </c:pt>
                <c:pt idx="3">
                  <c:v>94.1</c:v>
                </c:pt>
                <c:pt idx="4">
                  <c:v>95.5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Top50%占比</c:v>
                </c:pt>
              </c:strCache>
            </c:strRef>
          </c:tx>
          <c:spPr>
            <a:ln w="5080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95.1</c:v>
                </c:pt>
                <c:pt idx="1">
                  <c:v>96.3</c:v>
                </c:pt>
                <c:pt idx="2">
                  <c:v>97</c:v>
                </c:pt>
                <c:pt idx="3">
                  <c:v>97.2</c:v>
                </c:pt>
                <c:pt idx="4">
                  <c:v>97.6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区块数量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路径占比 (%)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cacfc2c7-da80-4f26-8ef4-418efc5025a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8573" y="2042220"/>
            <a:ext cx="4546854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Aft>
                <a:spcPts val="15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区块链性能分析报告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298573" y="2728020"/>
            <a:ext cx="4546854" cy="3732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路径优化与帕累托效应研究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075" y="381000"/>
            <a:ext cx="0" cy="342900"/>
          </a:xfrm>
          <a:prstGeom prst="line">
            <a:avLst/>
          </a:prstGeom>
          <a:noFill/>
          <a:ln w="57150">
            <a:solidFill>
              <a:srgbClr val="5DAD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9150" y="381000"/>
            <a:ext cx="3963924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区块大小增长趋势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104900"/>
            <a:ext cx="1369886" cy="2327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5"/>
              </a:lnSpc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1C28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关键发现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71500" y="1528167"/>
            <a:ext cx="2667000" cy="17145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前1000个区块占用227.93 MB存储空间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前5000个区块达到1015.72 MB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区块大小呈现线性增长趋势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平均每1000个区块约增加200 MB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19500" y="1104900"/>
          <a:ext cx="4953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075" y="381000"/>
            <a:ext cx="0" cy="342900"/>
          </a:xfrm>
          <a:prstGeom prst="line">
            <a:avLst/>
          </a:prstGeom>
          <a:noFill/>
          <a:ln w="57150">
            <a:solidFill>
              <a:srgbClr val="5DAD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9150" y="381000"/>
            <a:ext cx="3963924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Hint占原存储空间比例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104900"/>
            <a:ext cx="1369886" cy="2327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5"/>
              </a:lnSpc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1C28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存储开销对比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71500" y="1528167"/>
            <a:ext cx="2667000" cy="11811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10% Hint仅占原存储的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3.7%</a:t>
            </a:r>
            <a:endParaRPr lang="en-US" sz="1350" dirty="0"/>
          </a:p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20% Hint仅占原存储的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5.6%</a:t>
            </a:r>
            <a:endParaRPr lang="en-US" sz="1350" dirty="0"/>
          </a:p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50% Hint占原存储的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22.4%</a:t>
            </a:r>
            <a:endParaRPr lang="en-US" sz="1350" dirty="0"/>
          </a:p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全量Hint占原存储的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52%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2995017"/>
            <a:ext cx="27203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结论：</a:t>
            </a:r>
            <a:r>
              <a:rPr lang="en-US" sz="1125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即使采用全量Hint存储，也仅需约一半的原始存储空间；若仅存储Top 10-20%的Hint，存储开销微乎其微。</a:t>
            </a:r>
            <a:endParaRPr lang="en-US" sz="1125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19500" y="1104900"/>
          <a:ext cx="4953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075" y="381000"/>
            <a:ext cx="0" cy="342900"/>
          </a:xfrm>
          <a:prstGeom prst="line">
            <a:avLst/>
          </a:prstGeom>
          <a:noFill/>
          <a:ln w="57150">
            <a:solidFill>
              <a:srgbClr val="5DAD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9150" y="381000"/>
            <a:ext cx="3963924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部分Hint的交易覆盖能力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104900"/>
            <a:ext cx="1369886" cy="2327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5"/>
              </a:lnSpc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1C28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覆盖率表现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71500" y="1528167"/>
            <a:ext cx="2667000" cy="19812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仅存储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10%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Hint可覆盖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76.9%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有转账交易</a:t>
            </a:r>
            <a:endParaRPr lang="en-US" sz="1350" dirty="0"/>
          </a:p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仅存储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20%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Hint可覆盖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82.8%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有转账交易</a:t>
            </a:r>
            <a:endParaRPr lang="en-US" sz="1350" dirty="0"/>
          </a:p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仅存储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50%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Hint可覆盖</a:t>
            </a:r>
            <a:r>
              <a:rPr lang="en-US" sz="13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89.9%</a:t>
            </a: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有转账交易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少量存储换取高交易覆盖率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19500" y="1104900"/>
          <a:ext cx="4953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075" y="381000"/>
            <a:ext cx="0" cy="342900"/>
          </a:xfrm>
          <a:prstGeom prst="line">
            <a:avLst/>
          </a:prstGeom>
          <a:noFill/>
          <a:ln w="57150">
            <a:solidFill>
              <a:srgbClr val="5DAD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9150" y="381000"/>
            <a:ext cx="3963924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帕累托效应展示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104900"/>
            <a:ext cx="1399032" cy="2327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5"/>
              </a:lnSpc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1C28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80/20法则验证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71500" y="1528167"/>
            <a:ext cx="2667000" cy="1181100"/>
          </a:xfrm>
          <a:prstGeom prst="rect">
            <a:avLst/>
          </a:prstGeom>
          <a:noFill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Top10%路径占比高达92.9%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Top20%路径占比达到95.5%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符合典型的帕累托分布特征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优化少数路径即可获得显著收益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19500" y="1104900"/>
          <a:ext cx="4953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5465" y="381000"/>
            <a:ext cx="3993071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C28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关键发现与未来规划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6750" y="1028700"/>
            <a:ext cx="7810500" cy="1278434"/>
          </a:xfrm>
          <a:prstGeom prst="roundRect">
            <a:avLst>
              <a:gd name="adj" fmla="val 7451"/>
            </a:avLst>
          </a:prstGeom>
          <a:solidFill>
            <a:srgbClr val="FFFFFF"/>
          </a:solidFill>
          <a:effectLst>
            <a:outerShdw blurRad="95250" dist="2857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1219200"/>
            <a:ext cx="3701606" cy="2116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5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5DADE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关键发现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545134"/>
            <a:ext cx="7239000" cy="571500"/>
          </a:xfrm>
          <a:prstGeom prst="rect">
            <a:avLst/>
          </a:prstGeom>
          <a:noFill/>
        </p:spPr>
        <p:txBody>
          <a:bodyPr wrap="square" lIns="71438" tIns="0" rIns="0" bIns="0" rtlCol="0" anchor="t"/>
          <a:lstStyle/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路径数据呈现明显的</a:t>
            </a:r>
            <a:r>
              <a:rPr lang="en-US" sz="1350" b="1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帕累托分布</a:t>
            </a:r>
            <a:r>
              <a:rPr lang="en-US" sz="1350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：Top 10%路径占比达93%</a:t>
            </a:r>
            <a:endParaRPr lang="en-US" sz="1350" dirty="0"/>
          </a:p>
          <a:p>
            <a:pPr marL="0" indent="0" algn="l">
              <a:lnSpc>
                <a:spcPts val="2100"/>
              </a:lnSpc>
              <a:buSzPct val="100000"/>
              <a:buNone/>
            </a:pPr>
            <a:r>
              <a:rPr lang="en-US" sz="1350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仅需</a:t>
            </a:r>
            <a:r>
              <a:rPr lang="en-US" sz="1350" b="1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3.7%额外存储</a:t>
            </a:r>
            <a:r>
              <a:rPr lang="en-US" sz="1350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即可覆盖</a:t>
            </a:r>
            <a:r>
              <a:rPr lang="en-US" sz="1350" b="1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77%交易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6750" y="2545259"/>
            <a:ext cx="3714750" cy="2051596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effectLst>
            <a:outerShdw blurRad="95250" dist="2857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6300" y="2754809"/>
            <a:ext cx="3295650" cy="304800"/>
          </a:xfrm>
          <a:prstGeom prst="roundRect">
            <a:avLst>
              <a:gd name="adj" fmla="val 18750"/>
            </a:avLst>
          </a:prstGeom>
          <a:solidFill>
            <a:srgbClr val="5DADE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90600" y="2811959"/>
            <a:ext cx="157391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🔄 Replay模式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6300" y="3354884"/>
            <a:ext cx="3361563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目标：</a:t>
            </a:r>
            <a:r>
              <a:rPr lang="en-US" sz="1050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验证Hint加速效果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6300" y="3815804"/>
            <a:ext cx="3295650" cy="571500"/>
          </a:xfrm>
          <a:prstGeom prst="rect">
            <a:avLst/>
          </a:prstGeom>
          <a:noFill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测试执行速度提升幅度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评估存储性能权衡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62500" y="2545259"/>
            <a:ext cx="3714750" cy="2051596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effectLst>
            <a:outerShdw blurRad="95250" dist="2857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72050" y="2754809"/>
            <a:ext cx="3295650" cy="304800"/>
          </a:xfrm>
          <a:prstGeom prst="roundRect">
            <a:avLst>
              <a:gd name="adj" fmla="val 18750"/>
            </a:avLst>
          </a:prstGeom>
          <a:solidFill>
            <a:srgbClr val="5DADE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86350" y="2811959"/>
            <a:ext cx="157391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🚀 Online模式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72050" y="3354884"/>
            <a:ext cx="3361563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目标：</a:t>
            </a:r>
            <a:r>
              <a:rPr lang="en-US" sz="1050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实时应用高价值路径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72050" y="3815804"/>
            <a:ext cx="3295650" cy="571500"/>
          </a:xfrm>
          <a:prstGeom prst="rect">
            <a:avLst/>
          </a:prstGeom>
          <a:noFill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量化高价值路径加速比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E405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应用到新区块执行中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</Words>
  <Application>WPS 演示</Application>
  <PresentationFormat>On-screen Show (16:9)</PresentationFormat>
  <Paragraphs>63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Arial</vt:lpstr>
      <vt:lpstr>Arial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谢思芃</cp:lastModifiedBy>
  <cp:revision>2</cp:revision>
  <dcterms:created xsi:type="dcterms:W3CDTF">2025-11-02T05:35:00Z</dcterms:created>
  <dcterms:modified xsi:type="dcterms:W3CDTF">2025-11-02T05:41:12Z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A1D1346356EE4966B047FB47E1AC7327_12</vt:lpwstr>
  </property>
  <property fmtid="{D5CDD505-2E9C-101B-9397-08002B2CF9AE}" pid="3" name="KSOProductBuildVer">
    <vt:lpwstr>2052-12.1.0.22529</vt:lpwstr>
  </property>
</Properties>
</file>