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执行时间 (us)</c:v>
                </c:pt>
              </c:strCache>
            </c:strRef>
          </c:tx>
          <c:spPr>
            <a:solidFill>
              <a:srgbClr val="2C3E50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Geth
Native</c:v>
                </c:pt>
                <c:pt idx="1">
                  <c:v>Geth +
Forerunner</c:v>
                </c:pt>
                <c:pt idx="2">
                  <c:v>Revm
Native</c:v>
                </c:pt>
                <c:pt idx="3">
                  <c:v>Revm +
Forerunner</c:v>
                </c:pt>
                <c:pt idx="4">
                  <c:v>Helios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400</c:v>
                </c:pt>
                <c:pt idx="1">
                  <c:v>80</c:v>
                </c:pt>
                <c:pt idx="2">
                  <c:v>60</c:v>
                </c:pt>
                <c:pt idx="3">
                  <c:v>40</c:v>
                </c:pt>
                <c:pt idx="4">
                  <c:v>26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方案</a:t>
                </a:r>
                <a:endParaRPr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0"/>
          <c:min val="0"/>
        </c:scaling>
        <c:delete val="0"/>
        <c:axPos val="l"/>
        <c:majorGridlines>
          <c:spPr>
            <a:ln w="12700" cap="flat" cmpd="sng" algn="ctr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执行时间 (μs)</a:t>
                </a:r>
                <a:endParaRPr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82f17fb8-449d-46f9-8594-9f192a94f74e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2513" y="1409700"/>
            <a:ext cx="2798975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spcAft>
                <a:spcPts val="600"/>
              </a:spcAft>
              <a:buNone/>
            </a:pPr>
            <a:r>
              <a:rPr lang="en-US" sz="7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Helios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794064" y="2552700"/>
            <a:ext cx="3555873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ECF0F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EVM执行引擎优化历程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211830" y="3429000"/>
            <a:ext cx="2720340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BDC3C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从内存开销到轻量级设计的探索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206812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研究背景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00200"/>
            <a:ext cx="4206812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目标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57200" y="2133600"/>
            <a:ext cx="8394192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通过执行路径优化提升EVM交易处理性能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33700"/>
            <a:ext cx="4206812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Bef>
                <a:spcPts val="2400"/>
              </a:spcBef>
              <a:buNone/>
            </a:pPr>
            <a:r>
              <a:rPr lang="en-US" sz="225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挑战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8229600" cy="876300"/>
          </a:xfrm>
          <a:prstGeom prst="rect">
            <a:avLst/>
          </a:prstGeom>
          <a:noFill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Geth执行效率低 (400us/tx)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现有优化方案内存开销大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需要保持Gas语义一致性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206812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阶段1: 初步尝试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019300"/>
            <a:ext cx="1797368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方案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57200" y="2552700"/>
            <a:ext cx="3575304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使用Forerunner/Seer优化Geth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3009900"/>
            <a:ext cx="3505200" cy="876300"/>
          </a:xfrm>
          <a:prstGeom prst="rect">
            <a:avLst/>
          </a:prstGeom>
          <a:noFill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追踪执行路径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缓存状态访问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预测性优化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0" y="1543050"/>
            <a:ext cx="4114800" cy="2819400"/>
          </a:xfrm>
          <a:prstGeom prst="roundRect">
            <a:avLst>
              <a:gd name="adj" fmla="val 2703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76800" y="1847850"/>
            <a:ext cx="1797368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7AE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性能提升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4841748" y="2533650"/>
            <a:ext cx="3575304" cy="571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450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5×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4841748" y="3143250"/>
            <a:ext cx="3575304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7F8C8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加速比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1748" y="3714750"/>
            <a:ext cx="3575304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E74C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400 us</a:t>
            </a:r>
            <a:r>
              <a:rPr lang="en-US" sz="1800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→ </a:t>
            </a:r>
            <a:r>
              <a:rPr lang="en-US" sz="1800" dirty="0">
                <a:solidFill>
                  <a:srgbClr val="27AE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80 us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206812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阶段2: 发现问题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52550"/>
            <a:ext cx="3810000" cy="1943100"/>
          </a:xfrm>
          <a:prstGeom prst="roundRect">
            <a:avLst>
              <a:gd name="adj" fmla="val 3922"/>
            </a:avLst>
          </a:prstGeom>
          <a:solidFill>
            <a:srgbClr val="F39C1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29996" y="1695450"/>
            <a:ext cx="3264408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Geth + Forerunner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29996" y="2152650"/>
            <a:ext cx="3264408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80 us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876800" y="1352550"/>
            <a:ext cx="3810000" cy="1943100"/>
          </a:xfrm>
          <a:prstGeom prst="roundRect">
            <a:avLst>
              <a:gd name="adj" fmla="val 3922"/>
            </a:avLst>
          </a:prstGeom>
          <a:solidFill>
            <a:srgbClr val="3498D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49596" y="1695450"/>
            <a:ext cx="3264408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Revm Native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149596" y="2152650"/>
            <a:ext cx="3264408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60 us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74904" y="3790950"/>
            <a:ext cx="8394192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E67E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❗ Revm原生性能更优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4904" y="4248150"/>
            <a:ext cx="8394192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7F8C8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优化后的Geth仍不如充分优化的客户端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206812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阶段3: 优化Revm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019300"/>
            <a:ext cx="1797368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方案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57200" y="2552700"/>
            <a:ext cx="3575304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将Forerunner/Seer方法应用于Revm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3009900"/>
            <a:ext cx="3505200" cy="876300"/>
          </a:xfrm>
          <a:prstGeom prst="rect">
            <a:avLst/>
          </a:prstGeom>
          <a:noFill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利用Revm的高效架构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应用路径优化技术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期望获得更好的加速效果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0" y="1543050"/>
            <a:ext cx="4114800" cy="2819400"/>
          </a:xfrm>
          <a:prstGeom prst="roundRect">
            <a:avLst>
              <a:gd name="adj" fmla="val 2703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76800" y="1847850"/>
            <a:ext cx="1797368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7AE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性能结果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4841748" y="2533650"/>
            <a:ext cx="3575304" cy="571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450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1.5×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4841748" y="3143250"/>
            <a:ext cx="3575304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7F8C8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实际加速比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1748" y="3714750"/>
            <a:ext cx="3575304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3498D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60 us</a:t>
            </a:r>
            <a:r>
              <a:rPr lang="en-US" sz="1800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→ </a:t>
            </a:r>
            <a:r>
              <a:rPr lang="en-US" sz="1800" dirty="0">
                <a:solidFill>
                  <a:srgbClr val="27AE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40 us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206812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阶段4: 加速比分析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90650"/>
            <a:ext cx="8229600" cy="2324100"/>
          </a:xfrm>
          <a:prstGeom prst="roundRect">
            <a:avLst>
              <a:gd name="adj" fmla="val 3279"/>
            </a:avLst>
          </a:prstGeom>
          <a:solidFill>
            <a:srgbClr val="ECF0F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624042" y="1695450"/>
            <a:ext cx="3895916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期望 vs 实际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40664" y="2381250"/>
            <a:ext cx="2176272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7F8C8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期望加速比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0664" y="2686050"/>
            <a:ext cx="2176272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400" b="1" dirty="0">
                <a:solidFill>
                  <a:srgbClr val="27AE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5×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3505200" y="2449860"/>
            <a:ext cx="2176272" cy="8533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720"/>
              </a:lnSpc>
              <a:buNone/>
            </a:pPr>
            <a:r>
              <a:rPr lang="en-US" sz="4800" dirty="0">
                <a:solidFill>
                  <a:srgbClr val="7F8C8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227064" y="2381250"/>
            <a:ext cx="2176272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7F8C8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实际加速比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27064" y="2686050"/>
            <a:ext cx="2176272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400" b="1" dirty="0">
                <a:solidFill>
                  <a:srgbClr val="E67E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1.5×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74904" y="4171950"/>
            <a:ext cx="8394192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Bef>
                <a:spcPts val="24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E67E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差距显著,需要深入分析原因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206812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阶段5: 问题诊断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00150"/>
            <a:ext cx="8229600" cy="1447800"/>
          </a:xfrm>
          <a:prstGeom prst="roundRect">
            <a:avLst>
              <a:gd name="adj" fmla="val 5263"/>
            </a:avLst>
          </a:prstGeom>
          <a:solidFill>
            <a:srgbClr val="FFF3E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85775" y="1200150"/>
            <a:ext cx="0" cy="1447800"/>
          </a:xfrm>
          <a:prstGeom prst="line">
            <a:avLst/>
          </a:prstGeom>
          <a:noFill/>
          <a:ln w="57150">
            <a:solidFill>
              <a:srgbClr val="E67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9150" y="1504950"/>
            <a:ext cx="3866769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E67E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关键发现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819150" y="2000250"/>
            <a:ext cx="7714107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Forerunner/Seer优化方式内存开销过大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105150"/>
            <a:ext cx="38862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内存开销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600450"/>
            <a:ext cx="3886200" cy="571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4500" b="1" dirty="0">
                <a:solidFill>
                  <a:srgbClr val="E74C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90 MB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457200" y="4400550"/>
            <a:ext cx="3886200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7F8C8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uniswap-v2-swap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76800" y="3238500"/>
            <a:ext cx="38862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影响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76800" y="3695700"/>
            <a:ext cx="3810000" cy="876300"/>
          </a:xfrm>
          <a:prstGeom prst="rect">
            <a:avLst/>
          </a:prstGeom>
          <a:noFill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Revm单个opcode仅需数十纳秒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内存I/O成为性能瓶颈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优化效果被抵消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21722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阶段6: Helios轻量级方案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90650"/>
            <a:ext cx="1797368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核心思路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57200" y="1924050"/>
            <a:ext cx="3575304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7AE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只追踪栈操作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381250"/>
            <a:ext cx="3505200" cy="876300"/>
          </a:xfrm>
          <a:prstGeom prst="rect">
            <a:avLst/>
          </a:prstGeom>
          <a:noFill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栈操作在优化中起决定性作用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栈操作占比更多(80%+)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放弃追踪内存和存储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3714750"/>
            <a:ext cx="3575304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Bef>
                <a:spcPts val="2400"/>
              </a:spcBef>
              <a:buNone/>
            </a:pPr>
            <a:r>
              <a:rPr lang="en-US" sz="180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额外收益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210050"/>
            <a:ext cx="3575304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保持Gas一致性(不优化动态Gas的Opcode)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0" y="1028700"/>
            <a:ext cx="4114800" cy="3848100"/>
          </a:xfrm>
          <a:prstGeom prst="roundRect">
            <a:avLst>
              <a:gd name="adj" fmla="val 1980"/>
            </a:avLst>
          </a:prstGeom>
          <a:solidFill>
            <a:srgbClr val="E8F5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46470" y="1333500"/>
            <a:ext cx="1165860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7AE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性能指标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4841748" y="2019300"/>
            <a:ext cx="3575304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7F8C8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执行时间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1748" y="2324100"/>
            <a:ext cx="3575304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400" b="1" dirty="0">
                <a:solidFill>
                  <a:srgbClr val="27AE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26 us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4841748" y="3543300"/>
            <a:ext cx="3575304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7F8C8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内存开销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1748" y="3848100"/>
            <a:ext cx="3575304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400" b="1" dirty="0">
                <a:solidFill>
                  <a:srgbClr val="27AE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70 KB</a:t>
            </a:r>
            <a:endParaRPr lang="en-US" sz="5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22576" y="304800"/>
            <a:ext cx="209870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性能对比总结</a:t>
            </a:r>
            <a:endParaRPr lang="en-US" sz="27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04800" y="838200"/>
          <a:ext cx="85344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613</Words>
  <Application>WPS 演示</Application>
  <PresentationFormat>On-screen Show (16:9)</PresentationFormat>
  <Paragraphs>128</Paragraphs>
  <Slides>9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宋体</vt:lpstr>
      <vt:lpstr>Wingdings</vt:lpstr>
      <vt:lpstr>Arial</vt:lpstr>
      <vt:lpstr>Arial</vt:lpstr>
      <vt:lpstr>Arial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Helios优化历程</dc:title>
  <dc:creator>Helios Research Team</dc:creator>
  <dc:subject>PptxGenJS Presentation</dc:subject>
  <cp:lastModifiedBy>谢思芃</cp:lastModifiedBy>
  <cp:revision>2</cp:revision>
  <dcterms:created xsi:type="dcterms:W3CDTF">2025-11-02T06:48:00Z</dcterms:created>
  <dcterms:modified xsi:type="dcterms:W3CDTF">2025-11-02T06:52:27Z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58AB4F211B8F4AE3979561BAD8FE77DC_12</vt:lpwstr>
  </property>
  <property fmtid="{D5CDD505-2E9C-101B-9397-08002B2CF9AE}" pid="3" name="KSOProductBuildVer">
    <vt:lpwstr>2052-12.1.0.22529</vt:lpwstr>
  </property>
</Properties>
</file>