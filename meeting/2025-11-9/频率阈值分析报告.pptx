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2" r:id="rId6"/>
    <p:sldId id="263" r:id="rId7"/>
    <p:sldId id="258" r:id="rId8"/>
    <p:sldId id="264" r:id="rId9"/>
    <p:sldId id="259" r:id="rId10"/>
    <p:sldId id="260" r:id="rId11"/>
    <p:sldId id="261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"/>
          </a:xfrm>
          <a:prstGeom prst="rect">
            <a:avLst/>
          </a:prstGeom>
          <a:solidFill>
            <a:srgbClr val="1E3A8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14300"/>
            <a:ext cx="4478845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不同频率阈值的过滤效果</a:t>
            </a:r>
            <a:endParaRPr lang="en-US" sz="2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2106295" y="812800"/>
          <a:ext cx="4381500" cy="3291840"/>
        </p:xfrm>
        <a:graphic>
          <a:graphicData uri="http://schemas.openxmlformats.org/drawingml/2006/table">
            <a:tbl>
              <a:tblPr/>
              <a:tblGrid>
                <a:gridCol w="2190750"/>
                <a:gridCol w="2190750"/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频率阈值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保留EntryPoint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1+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62,269 (100.0%)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5+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22,394 (36.0%)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10+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15,063 (24.2%)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20+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9,870 (15.9%)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50+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5,261 (8.4%)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100+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3,193 (5.1%)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500+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783 (1.3%)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"/>
          </a:xfrm>
          <a:prstGeom prst="rect">
            <a:avLst/>
          </a:prstGeom>
          <a:solidFill>
            <a:srgbClr val="1E3A8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14300"/>
            <a:ext cx="4478845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频率 ≥ 1 - 详细分析</a:t>
            </a:r>
            <a:endParaRPr lang="en-US" sz="2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190500" y="666750"/>
          <a:ext cx="8763000" cy="409575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指标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数值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保留 EntryPoint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62,269 (100.00%)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覆盖执行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3,304,651 / 3,304,651 (100.00%)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覆盖交易（所有路径）</a:t>
                      </a:r>
                      <a:endParaRPr lang="en-US" sz="15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560,995 / 567,372 (98.88%)</a:t>
                      </a:r>
                      <a:endParaRPr lang="en-US" sz="15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覆盖交易（Top 1 路径）</a:t>
                      </a:r>
                      <a:endParaRPr lang="en-US" sz="15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353,148 / 567,372 (62.24%)</a:t>
                      </a:r>
                      <a:endParaRPr lang="en-US" sz="15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覆盖交易（Top 3 路径）</a:t>
                      </a:r>
                      <a:endParaRPr lang="en-US" sz="15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421,360 / 567,372 (74.27%)</a:t>
                      </a:r>
                      <a:endParaRPr lang="en-US" sz="15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覆盖交易（Top 5 路径）</a:t>
                      </a:r>
                      <a:endParaRPr lang="en-US" sz="15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444,304 / 567,372 (78.31%)</a:t>
                      </a:r>
                      <a:endParaRPr lang="en-US" sz="15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覆盖交易（Top 10 路径）</a:t>
                      </a:r>
                      <a:endParaRPr lang="en-US" sz="15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467,459 / 567,372 (82.39%)</a:t>
                      </a:r>
                      <a:endParaRPr lang="en-US" sz="15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76250"/>
          </a:xfrm>
          <a:prstGeom prst="rect">
            <a:avLst/>
          </a:prstGeom>
          <a:solidFill>
            <a:srgbClr val="1E3A8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14300"/>
            <a:ext cx="5673852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Replay Mode</a:t>
            </a:r>
            <a:endParaRPr lang="en-US" sz="1950" dirty="0"/>
          </a:p>
        </p:txBody>
      </p:sp>
      <p:pic>
        <p:nvPicPr>
          <p:cNvPr id="6" name="图片 5" descr="deter_speedup_distribu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12140"/>
            <a:ext cx="9144000" cy="39185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76250"/>
          </a:xfrm>
          <a:prstGeom prst="rect">
            <a:avLst/>
          </a:prstGeom>
          <a:solidFill>
            <a:srgbClr val="1E3A8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14300"/>
            <a:ext cx="5809869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Online Mode (Freq &gt;=1, Top1)</a:t>
            </a:r>
            <a:endParaRPr lang="en-US" sz="1950" dirty="0"/>
          </a:p>
        </p:txBody>
      </p:sp>
      <p:pic>
        <p:nvPicPr>
          <p:cNvPr id="5" name="图片 4" descr="optim_speedup_distribu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12140"/>
            <a:ext cx="9144000" cy="39185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"/>
          </a:xfrm>
          <a:prstGeom prst="rect">
            <a:avLst/>
          </a:prstGeom>
          <a:solidFill>
            <a:srgbClr val="1E3A8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14300"/>
            <a:ext cx="4478845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频率 ≥ 10 - 详细分析</a:t>
            </a:r>
            <a:endParaRPr lang="en-US" sz="2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190500" y="666750"/>
          <a:ext cx="8763000" cy="409575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指标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数值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保留 EntryPoint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15,063 (24.19%)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覆盖执行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3,188,069 / 3,304,651 (96.47%)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覆盖交易（所有路径）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511,054 / 567,372 (90.07%)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覆盖交易（Top 1 路径）</a:t>
                      </a:r>
                      <a:endParaRPr lang="en-US" sz="15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329,314 / 567,372 (58.04%)</a:t>
                      </a:r>
                      <a:endParaRPr lang="en-US" sz="15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覆盖交易（Top 3 路径）</a:t>
                      </a:r>
                      <a:endParaRPr lang="en-US" sz="15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388,810 / 567,372 (68.53%)</a:t>
                      </a:r>
                      <a:endParaRPr lang="en-US" sz="15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覆盖交易（Top 5 路径）</a:t>
                      </a:r>
                      <a:endParaRPr lang="en-US" sz="15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408,145 / 567,372 (71.94%)</a:t>
                      </a:r>
                      <a:endParaRPr lang="en-US" sz="15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覆盖交易（Top 10 路径）</a:t>
                      </a:r>
                      <a:endParaRPr lang="en-US" sz="15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427,536 / 567,372 (75.35%)</a:t>
                      </a:r>
                      <a:endParaRPr lang="en-US" sz="15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76250"/>
          </a:xfrm>
          <a:prstGeom prst="rect">
            <a:avLst/>
          </a:prstGeom>
          <a:solidFill>
            <a:srgbClr val="1E3A8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14300"/>
            <a:ext cx="6878574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Online Mode (Freq &gt;= 10, Top 1)</a:t>
            </a:r>
            <a:endParaRPr lang="en-US" sz="1950" dirty="0"/>
          </a:p>
        </p:txBody>
      </p:sp>
      <p:pic>
        <p:nvPicPr>
          <p:cNvPr id="6" name="图片 5" descr="optim_partial_speedup_distribu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0" y="823595"/>
            <a:ext cx="9144000" cy="39185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"/>
          </a:xfrm>
          <a:prstGeom prst="rect">
            <a:avLst/>
          </a:prstGeom>
          <a:solidFill>
            <a:srgbClr val="1E3A8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14300"/>
            <a:ext cx="4478845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频率 ≥ 50 - 详细分析</a:t>
            </a:r>
            <a:endParaRPr lang="en-US" sz="2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190500" y="666750"/>
          <a:ext cx="8763000" cy="409575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指标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数值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保留 EntryPoint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5,261 (8.45%)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覆盖执行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2,973,697 / 3,304,651 (89.99%)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覆盖交易（所有路径）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437,297 / 567,372 (77.07%)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覆盖交易（Top 1 路径）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296,259 / 567,372 (52.22%)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覆盖交易（Top 3 路径）</a:t>
                      </a:r>
                      <a:endParaRPr lang="en-US" sz="15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343,481 / 567,372 (60.54%)</a:t>
                      </a:r>
                      <a:endParaRPr lang="en-US" sz="15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覆盖交易（Top 5 路径）</a:t>
                      </a:r>
                      <a:endParaRPr lang="en-US" sz="15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357,733 / 567,372 (63.05%)</a:t>
                      </a:r>
                      <a:endParaRPr lang="en-US" sz="15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覆盖交易（Top 10 路径）</a:t>
                      </a:r>
                      <a:endParaRPr lang="en-US" sz="15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371,120 / 567,372 (65.41%)</a:t>
                      </a:r>
                      <a:endParaRPr lang="en-US" sz="15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"/>
          </a:xfrm>
          <a:prstGeom prst="rect">
            <a:avLst/>
          </a:prstGeom>
          <a:solidFill>
            <a:srgbClr val="1E3A8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14300"/>
            <a:ext cx="4478845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频率 ≥ 100 - 详细分析</a:t>
            </a:r>
            <a:endParaRPr lang="en-US" sz="2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190500" y="666750"/>
          <a:ext cx="8763000" cy="409575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指标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数值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保留 EntryPoint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3,193 (5.13%)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覆盖执行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2,828,907 / 3,304,651 (85.60%)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覆盖交易（所有路径）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393,751 / 567,372 (69.40%)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覆盖交易（Top 1 路径）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275,835 / 567,372 (48.62%)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覆盖交易（Top 3 路径）</a:t>
                      </a:r>
                      <a:endParaRPr lang="en-US" sz="15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314,912 / 567,372 (55.50%)</a:t>
                      </a:r>
                      <a:endParaRPr lang="en-US" sz="15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覆盖交易（Top 5 路径）</a:t>
                      </a:r>
                      <a:endParaRPr lang="en-US" sz="15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326,745 / 567,372 (57.59%)</a:t>
                      </a:r>
                      <a:endParaRPr lang="en-US" sz="15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覆盖交易（Top 10 路径）</a:t>
                      </a:r>
                      <a:endParaRPr lang="en-US" sz="15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337,369 / 567,372 (59.46%)</a:t>
                      </a:r>
                      <a:endParaRPr lang="en-US" sz="15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"/>
          </a:xfrm>
          <a:prstGeom prst="rect">
            <a:avLst/>
          </a:prstGeom>
          <a:solidFill>
            <a:srgbClr val="1E3A8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14300"/>
            <a:ext cx="4478845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频率 ≥ 500 - 详细分析</a:t>
            </a:r>
            <a:endParaRPr lang="en-US" sz="2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190500" y="666750"/>
          <a:ext cx="8763000" cy="409575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指标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数值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保留 EntryPoint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783 (1.26%)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覆盖执行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2,310,694 / 3,304,651 (69.92%)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覆盖交易（所有路径）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281,664 / 567,372 (49.64%)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覆盖交易（Top 1 路径）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217,981 / 567,372 (38.42%)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覆盖交易（Top 3 路径）</a:t>
                      </a:r>
                      <a:endParaRPr lang="en-US" sz="15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237,327 / 567,372 (41.83%)</a:t>
                      </a:r>
                      <a:endParaRPr lang="en-US" sz="15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覆盖交易（Top 5 路径）</a:t>
                      </a:r>
                      <a:endParaRPr lang="en-US" sz="15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242,178 / 567,372 (42.68%)</a:t>
                      </a:r>
                      <a:endParaRPr lang="en-US" sz="15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覆盖交易（Top 10 路径）</a:t>
                      </a:r>
                      <a:endParaRPr lang="en-US" sz="15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246,075 / 567,372 (43.37%)</a:t>
                      </a:r>
                      <a:endParaRPr lang="en-US" sz="15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1588</Words>
  <Application>WPS 演示</Application>
  <PresentationFormat>On-screen Show (16:9)</PresentationFormat>
  <Paragraphs>210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宋体</vt:lpstr>
      <vt:lpstr>Wingdings</vt:lpstr>
      <vt:lpstr>Arial</vt:lpstr>
      <vt:lpstr>Arial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频率阈值过滤效果分析</dc:title>
  <dc:creator>Academic Analysis</dc:creator>
  <dc:subject>PptxGenJS Presentation</dc:subject>
  <cp:lastModifiedBy>谢思芃</cp:lastModifiedBy>
  <cp:revision>5</cp:revision>
  <dcterms:created xsi:type="dcterms:W3CDTF">2025-11-08T11:38:00Z</dcterms:created>
  <dcterms:modified xsi:type="dcterms:W3CDTF">2025-11-10T08:57:23Z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C23EACD78FB44CAF8AF0B7AD2D2C9477_12</vt:lpwstr>
  </property>
  <property fmtid="{D5CDD505-2E9C-101B-9397-08002B2CF9AE}" pid="3" name="KSOProductBuildVer">
    <vt:lpwstr>2052-12.1.0.22529</vt:lpwstr>
  </property>
</Properties>
</file>